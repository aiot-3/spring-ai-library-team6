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C7B79E-10F6-48BD-8C3E-16EDC90081D8}" v="362" dt="2026-07-05T12:27:54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FAF96-2170-4B59-9611-3A4D1ED751AC}" type="datetimeFigureOut">
              <a:t>2026-07-05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18330-E40E-4CAE-B857-03EF02F45D5A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249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365760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3" name="Shape 1"/>
          <p:cNvSpPr/>
          <p:nvPr/>
        </p:nvSpPr>
        <p:spPr>
          <a:xfrm>
            <a:off x="7141464" y="365760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4" name="Shape 2"/>
          <p:cNvSpPr/>
          <p:nvPr/>
        </p:nvSpPr>
        <p:spPr>
          <a:xfrm>
            <a:off x="7379208" y="365760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5" name="Shape 3"/>
          <p:cNvSpPr/>
          <p:nvPr/>
        </p:nvSpPr>
        <p:spPr>
          <a:xfrm>
            <a:off x="7616952" y="365760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6" name="Shape 4"/>
          <p:cNvSpPr/>
          <p:nvPr/>
        </p:nvSpPr>
        <p:spPr>
          <a:xfrm>
            <a:off x="7854696" y="365760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7" name="Shape 5"/>
          <p:cNvSpPr/>
          <p:nvPr/>
        </p:nvSpPr>
        <p:spPr>
          <a:xfrm>
            <a:off x="8092440" y="365760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8" name="Shape 6"/>
          <p:cNvSpPr/>
          <p:nvPr/>
        </p:nvSpPr>
        <p:spPr>
          <a:xfrm>
            <a:off x="8330184" y="365760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9" name="Shape 7"/>
          <p:cNvSpPr/>
          <p:nvPr/>
        </p:nvSpPr>
        <p:spPr>
          <a:xfrm>
            <a:off x="8567928" y="365760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10" name="Shape 8"/>
          <p:cNvSpPr/>
          <p:nvPr/>
        </p:nvSpPr>
        <p:spPr>
          <a:xfrm>
            <a:off x="8805672" y="365760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11" name="Shape 9"/>
          <p:cNvSpPr/>
          <p:nvPr/>
        </p:nvSpPr>
        <p:spPr>
          <a:xfrm>
            <a:off x="6903720" y="603504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12" name="Shape 10"/>
          <p:cNvSpPr/>
          <p:nvPr/>
        </p:nvSpPr>
        <p:spPr>
          <a:xfrm>
            <a:off x="7141464" y="603504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79208" y="603504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2" y="603504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15" name="Shape 13"/>
          <p:cNvSpPr/>
          <p:nvPr/>
        </p:nvSpPr>
        <p:spPr>
          <a:xfrm>
            <a:off x="7854696" y="603504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16" name="Shape 14"/>
          <p:cNvSpPr/>
          <p:nvPr/>
        </p:nvSpPr>
        <p:spPr>
          <a:xfrm>
            <a:off x="8092440" y="603504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0184" y="603504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18" name="Shape 16"/>
          <p:cNvSpPr/>
          <p:nvPr/>
        </p:nvSpPr>
        <p:spPr>
          <a:xfrm>
            <a:off x="8567928" y="603504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19" name="Shape 17"/>
          <p:cNvSpPr/>
          <p:nvPr/>
        </p:nvSpPr>
        <p:spPr>
          <a:xfrm>
            <a:off x="8805672" y="603504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20" name="Shape 18"/>
          <p:cNvSpPr/>
          <p:nvPr/>
        </p:nvSpPr>
        <p:spPr>
          <a:xfrm>
            <a:off x="6903720" y="841248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21" name="Shape 19"/>
          <p:cNvSpPr/>
          <p:nvPr/>
        </p:nvSpPr>
        <p:spPr>
          <a:xfrm>
            <a:off x="7141464" y="841248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22" name="Shape 20"/>
          <p:cNvSpPr/>
          <p:nvPr/>
        </p:nvSpPr>
        <p:spPr>
          <a:xfrm>
            <a:off x="7379208" y="841248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23" name="Shape 21"/>
          <p:cNvSpPr/>
          <p:nvPr/>
        </p:nvSpPr>
        <p:spPr>
          <a:xfrm>
            <a:off x="7616952" y="841248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24" name="Shape 22"/>
          <p:cNvSpPr/>
          <p:nvPr/>
        </p:nvSpPr>
        <p:spPr>
          <a:xfrm>
            <a:off x="7854696" y="841248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25" name="Shape 23"/>
          <p:cNvSpPr/>
          <p:nvPr/>
        </p:nvSpPr>
        <p:spPr>
          <a:xfrm>
            <a:off x="8092440" y="841248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0184" y="841248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67928" y="841248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28" name="Shape 26"/>
          <p:cNvSpPr/>
          <p:nvPr/>
        </p:nvSpPr>
        <p:spPr>
          <a:xfrm>
            <a:off x="8805672" y="841248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29" name="Shape 27"/>
          <p:cNvSpPr/>
          <p:nvPr/>
        </p:nvSpPr>
        <p:spPr>
          <a:xfrm>
            <a:off x="6903720" y="1078992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30" name="Shape 28"/>
          <p:cNvSpPr/>
          <p:nvPr/>
        </p:nvSpPr>
        <p:spPr>
          <a:xfrm>
            <a:off x="7141464" y="1078992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31" name="Shape 29"/>
          <p:cNvSpPr/>
          <p:nvPr/>
        </p:nvSpPr>
        <p:spPr>
          <a:xfrm>
            <a:off x="7379208" y="1078992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32" name="Shape 30"/>
          <p:cNvSpPr/>
          <p:nvPr/>
        </p:nvSpPr>
        <p:spPr>
          <a:xfrm>
            <a:off x="7616952" y="1078992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33" name="Shape 31"/>
          <p:cNvSpPr/>
          <p:nvPr/>
        </p:nvSpPr>
        <p:spPr>
          <a:xfrm>
            <a:off x="7854696" y="1078992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34" name="Shape 32"/>
          <p:cNvSpPr/>
          <p:nvPr/>
        </p:nvSpPr>
        <p:spPr>
          <a:xfrm>
            <a:off x="8092440" y="1078992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35" name="Shape 33"/>
          <p:cNvSpPr/>
          <p:nvPr/>
        </p:nvSpPr>
        <p:spPr>
          <a:xfrm>
            <a:off x="8330184" y="1078992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36" name="Shape 34"/>
          <p:cNvSpPr/>
          <p:nvPr/>
        </p:nvSpPr>
        <p:spPr>
          <a:xfrm>
            <a:off x="8567928" y="1078992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37" name="Shape 35"/>
          <p:cNvSpPr/>
          <p:nvPr/>
        </p:nvSpPr>
        <p:spPr>
          <a:xfrm>
            <a:off x="8805672" y="1078992"/>
            <a:ext cx="45720" cy="45720"/>
          </a:xfrm>
          <a:prstGeom prst="ellipse">
            <a:avLst/>
          </a:prstGeom>
          <a:solidFill>
            <a:srgbClr val="35507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NHN 아카데미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841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KDT 3기  ·  Spring AI 프로젝트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184708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 Library</a:t>
            </a:r>
            <a:endParaRPr lang="en-US" sz="4600" dirty="0"/>
          </a:p>
        </p:txBody>
      </p:sp>
      <p:sp>
        <p:nvSpPr>
          <p:cNvPr id="41" name="Text 39"/>
          <p:cNvSpPr/>
          <p:nvPr/>
        </p:nvSpPr>
        <p:spPr>
          <a:xfrm>
            <a:off x="457200" y="2724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FE9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기반 도서 검색·추천 시스템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457200" y="3429000"/>
            <a:ext cx="29260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통계·AI 요약  ·  리뷰 기반 RAG 반영  ·  시맨틱 캐싱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2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권세윤</a:t>
            </a:r>
            <a:r>
              <a:rPr lang="en-US" sz="1100" dirty="0">
                <a:solidFill>
                  <a:srgbClr val="8FA2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(ATGG_03_004)   ·   성능·데이터 파트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solidFill>
                <a:srgbClr val="6E8097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7101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4D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3258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16733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주제·기술 스택·구조·기대 효과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98424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4D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63040" y="203911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 및 역할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23865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분담 (담당: ③ 성능·데이터)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4D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463040" y="27523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절차 및 방법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30998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→ 구현 → 통합 단계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1071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463040" y="34655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경과 (담당 파트)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3813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요약 · RAG 반영 · 시맨틱 캐싱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412394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4D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1463040" y="41788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평가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463040" y="4526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성과와 한계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b="1" dirty="0">
              <a:solidFill>
                <a:srgbClr val="0D9488"/>
              </a:solidFill>
              <a:latin typeface="Malgun Gothic"/>
              <a:ea typeface="Malgun Gothic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3977640" cy="1298448"/>
          </a:xfrm>
          <a:prstGeom prst="roundRect">
            <a:avLst>
              <a:gd name="adj" fmla="val 4930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264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 및 선정 배경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1755648"/>
            <a:ext cx="3575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Spring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AI를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활용해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자연어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질문으로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도서를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찾는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도서관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애플리케이션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. </a:t>
            </a:r>
            <a:endParaRPr lang="en-US" sz="1000" dirty="0">
              <a:solidFill>
                <a:srgbClr val="000000"/>
              </a:solidFill>
              <a:latin typeface="Malgun Gothic"/>
              <a:ea typeface="Malgun Gothic"/>
              <a:cs typeface="Calibri" panose="020F0502020204030204"/>
            </a:endParaRPr>
          </a:p>
          <a:p>
            <a:pPr>
              <a:lnSpc>
                <a:spcPct val="102000"/>
              </a:lnSpc>
            </a:pP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단순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키워드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매칭을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넘어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의미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기반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검색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(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임베딩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)과 LLM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추천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(RAG)을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결합한다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.</a:t>
            </a:r>
            <a:endParaRPr lang="en-US" sz="1000">
              <a:latin typeface="Malgun Gothic"/>
              <a:ea typeface="Malgun Gothic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3977640" cy="1298448"/>
          </a:xfrm>
          <a:prstGeom prst="roundRect">
            <a:avLst>
              <a:gd name="adj" fmla="val 4930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4264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내용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10328" y="1755648"/>
            <a:ext cx="3575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검색(시맨틱+키워드, RRF 융합) · RAG 도서 추천 · 리뷰 통계/AI 요약 · 리뷰 정보의 추천 반영 · 선호 벡터 개인화 재정렬 · 시맨틱 캐싱 · 텔레그램 봇/관리자 피드백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3977640" cy="1298448"/>
          </a:xfrm>
          <a:prstGeom prst="roundRect">
            <a:avLst>
              <a:gd name="adj" fmla="val 4930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260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장비 및 재료 (기술 스택)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" y="3255264"/>
            <a:ext cx="3575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Java 21 · Spring Boot · Spring AI </a:t>
            </a:r>
            <a:endParaRPr lang="en-US" sz="1000" dirty="0">
              <a:solidFill>
                <a:srgbClr val="000000"/>
              </a:solidFill>
              <a:latin typeface="Malgun Gothic"/>
              <a:ea typeface="Malgun Gothic"/>
              <a:cs typeface="Calibri" panose="020F0502020204030204"/>
            </a:endParaRPr>
          </a:p>
          <a:p>
            <a:pPr>
              <a:lnSpc>
                <a:spcPct val="102000"/>
              </a:lnSpc>
            </a:pPr>
            <a:r>
              <a:rPr lang="en-US" sz="100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/ LLM: Ollama qwen3.5:9b(chat), bge-m3</a:t>
            </a:r>
            <a:endParaRPr lang="en-US" sz="1000" dirty="0">
              <a:solidFill>
                <a:srgbClr val="000000"/>
              </a:solidFill>
              <a:latin typeface="Malgun Gothic"/>
              <a:ea typeface="Malgun Gothic"/>
              <a:cs typeface="Calibri"/>
            </a:endParaRPr>
          </a:p>
          <a:p>
            <a:pPr>
              <a:lnSpc>
                <a:spcPct val="102000"/>
              </a:lnSpc>
            </a:pP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/ DB: PostgreSQL +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pgvector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메시징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: RabbitMQ </a:t>
            </a:r>
            <a:endParaRPr lang="en-US" sz="1000">
              <a:solidFill>
                <a:srgbClr val="000000"/>
              </a:solidFill>
              <a:latin typeface="Malgun Gothic"/>
              <a:ea typeface="Malgun Gothic"/>
              <a:cs typeface="Calibri"/>
            </a:endParaRPr>
          </a:p>
          <a:p>
            <a:pPr>
              <a:lnSpc>
                <a:spcPct val="102000"/>
              </a:lnSpc>
            </a:pP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/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캐시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: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Redis·pgvector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/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조회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: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QueryDSL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/ 뷰: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Thymeleaf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endParaRPr lang="en-US" sz="1000">
              <a:solidFill>
                <a:srgbClr val="000000"/>
              </a:solidFill>
              <a:latin typeface="Malgun Gothic"/>
              <a:ea typeface="Malgun Gothic"/>
              <a:cs typeface="Calibri"/>
            </a:endParaRPr>
          </a:p>
          <a:p>
            <a:pPr>
              <a:lnSpc>
                <a:spcPct val="102000"/>
              </a:lnSpc>
            </a:pPr>
            <a:r>
              <a:rPr lang="en-US" sz="100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/ 봇: 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Telegram</a:t>
            </a:r>
            <a:endParaRPr lang="en-US" sz="1000">
              <a:latin typeface="Malgun Gothic"/>
              <a:ea typeface="Malgun Gothic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09160" y="2798064"/>
            <a:ext cx="3977640" cy="1298448"/>
          </a:xfrm>
          <a:prstGeom prst="roundRect">
            <a:avLst>
              <a:gd name="adj" fmla="val 4930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92608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구조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10328" y="3255264"/>
            <a:ext cx="3575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feature-first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패키지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+ DDD 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레이어링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(</a:t>
            </a: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presentation·application·domain·infrastructure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). </a:t>
            </a:r>
            <a:endParaRPr lang="en-US" sz="1000" dirty="0">
              <a:solidFill>
                <a:srgbClr val="000000"/>
              </a:solidFill>
              <a:latin typeface="Malgun Gothic"/>
              <a:ea typeface="Malgun Gothic"/>
              <a:cs typeface="Calibri" panose="020F0502020204030204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도메인</a:t>
            </a:r>
            <a:r>
              <a:rPr lang="en-US" sz="10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: search · rag · review · cache · personalization · book · feedback · telegram · ai(agent)</a:t>
            </a:r>
            <a:endParaRPr lang="en-US" sz="1000">
              <a:latin typeface="Malgun Gothic"/>
              <a:ea typeface="Malgun Gothic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213047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4297680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 </a:t>
            </a:r>
            <a:r>
              <a:rPr lang="en-US" sz="1020" dirty="0">
                <a:solidFill>
                  <a:srgbClr val="E6E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기반 검색·리뷰·개인화·캐싱을 결합해 정확도와 응답 속도를 동시에 확보하고, 이벤트·메시지 큐 기반 비동기 구조로 사용자 요청 경로에 부하 없이 무거운 AI 작업을 처리한다.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 Library  ·  성능·데이터 파트 보고서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 및 역할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Malgun Gothic"/>
                <a:ea typeface="Malgun Gothic"/>
                <a:cs typeface="Malgun Gothic" pitchFamily="34" charset="-120"/>
              </a:rPr>
              <a:t>▶ 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도메인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단위로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4</a:t>
            </a:r>
            <a:r>
              <a:rPr lang="ko-KR" alt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인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분담</a:t>
            </a:r>
            <a:endParaRPr lang="en-US" sz="1150" dirty="0">
              <a:solidFill>
                <a:srgbClr val="5B6B7F"/>
              </a:solidFill>
              <a:latin typeface="Malgun Gothic"/>
              <a:ea typeface="Malgun Gothic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824556"/>
              </p:ext>
            </p:extLst>
          </p:nvPr>
        </p:nvGraphicFramePr>
        <p:xfrm>
          <a:off x="457200" y="1298448"/>
          <a:ext cx="7772400" cy="277977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  도메인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소유 패키지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①  </a:t>
                      </a:r>
                      <a:r>
                        <a:rPr lang="en-US" sz="900" b="1" dirty="0" err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검색</a:t>
                      </a:r>
                      <a:r>
                        <a:rPr lang="en-US" sz="900" b="1" dirty="0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 </a:t>
                      </a:r>
                      <a:r>
                        <a:rPr lang="en-US" sz="900" b="1" dirty="0" err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엔진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ko-KR" altLang="en-US" sz="900" b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 charset="0"/>
                        </a:rPr>
                        <a:t>염상헌</a:t>
                      </a:r>
                      <a:endParaRPr lang="en-US" sz="900" b="1" dirty="0">
                        <a:solidFill>
                          <a:srgbClr val="213047"/>
                        </a:solidFill>
                        <a:latin typeface="Malgun Gothic"/>
                        <a:ea typeface="Malgun Gothic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search.* , book.infrastructure.persistence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 검색(시맨틱+키워드) 완성 · Top-K / RRF 최적화 · 개인화 재정렬 연동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0" b="1" dirty="0">
                          <a:solidFill>
                            <a:srgbClr val="2130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 RAG · LLM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ko-KR" altLang="en-US" sz="900" b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 charset="0"/>
                        </a:rPr>
                        <a:t>박현준</a:t>
                      </a:r>
                      <a:endParaRPr lang="en-US" sz="900" b="1" dirty="0">
                        <a:solidFill>
                          <a:srgbClr val="213047"/>
                        </a:solidFill>
                        <a:latin typeface="Malgun Gothic"/>
                        <a:ea typeface="Malgun Gothic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rag.* , ai.*(agent)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파이프라인(ContextBuilder·프롬프트·ChatModel) · Function Calling 오케스트레이션 · 외부 도서 API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0" b="1" dirty="0">
                          <a:solidFill>
                            <a:srgbClr val="0B7A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 성능 · 데이터  ★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860" b="1" dirty="0">
                          <a:solidFill>
                            <a:srgbClr val="0B7A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권세윤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b="1" dirty="0">
                          <a:solidFill>
                            <a:srgbClr val="0B7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review.* , cache.* , 메시징 설정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0" dirty="0">
                          <a:solidFill>
                            <a:srgbClr val="104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시맨틱 캐싱(pgvector) · 리뷰 통계/AI 요약(RabbitMQ·@Async) · 리뷰→RAG 연동 · 리뷰 요약 파이프라인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④  </a:t>
                      </a:r>
                      <a:r>
                        <a:rPr lang="en-US" sz="900" b="1" dirty="0" err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인터페이스</a:t>
                      </a:r>
                      <a:r>
                        <a:rPr lang="en-US" sz="900" b="1" dirty="0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 · </a:t>
                      </a:r>
                      <a:r>
                        <a:rPr lang="en-US" sz="900" b="1" dirty="0" err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개인화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ko-KR" altLang="en-US" sz="900" b="1">
                          <a:solidFill>
                            <a:srgbClr val="213047"/>
                          </a:solidFill>
                          <a:latin typeface="Malgun Gothic"/>
                          <a:ea typeface="Malgun Gothic"/>
                          <a:cs typeface="Malgun Gothic" charset="0"/>
                        </a:rPr>
                        <a:t>박상민</a:t>
                      </a:r>
                      <a:endParaRPr lang="en-US" sz="900" b="1" dirty="0">
                        <a:solidFill>
                          <a:srgbClr val="213047"/>
                        </a:solidFill>
                        <a:latin typeface="Malgun Gothic"/>
                        <a:ea typeface="Malgun Gothic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6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personalization.* , feedback.* , telegram.*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3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선호 벡터 계산·재정렬 · 관리자 피드백 API · 텔레그램 봇/웹훅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 Library  ·  성능·데이터 파트 보고서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절차 및 방법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0D9488"/>
                </a:solidFill>
                <a:latin typeface="Malgun Gothic"/>
                <a:ea typeface="Malgun Gothic"/>
                <a:cs typeface="Malgun Gothic" pitchFamily="34" charset="-120"/>
              </a:rPr>
              <a:t>▶  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★ =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담당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 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단계</a:t>
            </a:r>
            <a:endParaRPr lang="en-US" sz="1150" dirty="0" err="1">
              <a:solidFill>
                <a:srgbClr val="5B6B7F"/>
              </a:solidFill>
              <a:latin typeface="Malgun Gothic"/>
              <a:ea typeface="Malgun Gothic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027196"/>
              </p:ext>
            </p:extLst>
          </p:nvPr>
        </p:nvGraphicFramePr>
        <p:xfrm>
          <a:off x="457200" y="1298448"/>
          <a:ext cx="8229600" cy="3145536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활동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2130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기획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주제·아키텍처 설계, 도메인 분담, 임베딩/pgvector 스키마 설계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분담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2130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검색·임베딩 기반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도서 CSV 대량 적재(CopyManager 등), 임베딩 생성, 하이브리드 검색 구축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베이스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0B7A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리뷰 통계·AI 요약  ★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04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리뷰 엔티티 · 이벤트 기반 통계 갱신 · RabbitMQ 큐 · Map-Reduce/누적 요약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err="1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담당</a:t>
                      </a:r>
                      <a:r>
                        <a:rPr lang="en-US" sz="900" b="1" dirty="0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900" b="1" dirty="0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단계</a:t>
                      </a:r>
                      <a:endParaRPr lang="ko-KR" altLang="en-US" sz="900" b="1" dirty="0">
                        <a:solidFill>
                          <a:srgbClr val="0B7A70"/>
                        </a:solidFill>
                        <a:latin typeface="Malgun Gothic"/>
                        <a:ea typeface="Malgun Gothic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0B7A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리뷰 → RAG 반영  ★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04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ReviewInfoEnricher(N+1 방지) · 컨텍스트/프롬프트에 평점·리뷰 요약 주입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err="1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담당</a:t>
                      </a:r>
                      <a:r>
                        <a:rPr lang="en-US" sz="900" b="1" dirty="0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900" b="1" dirty="0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단계</a:t>
                      </a:r>
                      <a:endParaRPr lang="ko-KR" altLang="en-US" sz="900" b="1" dirty="0">
                        <a:solidFill>
                          <a:srgbClr val="0B7A70"/>
                        </a:solidFill>
                        <a:latin typeface="Malgun Gothic"/>
                        <a:ea typeface="Malgun Gothic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0B7A7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시맨틱 캐싱  ★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04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pgvector 코사인 캐시 · TTL/웜업 · 만료 정리 스케줄러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err="1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담당</a:t>
                      </a:r>
                      <a:r>
                        <a:rPr lang="en-US" sz="900" b="1" dirty="0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900" b="1" dirty="0" err="1">
                          <a:solidFill>
                            <a:srgbClr val="0B7A70"/>
                          </a:solidFill>
                          <a:latin typeface="Malgun Gothic"/>
                          <a:ea typeface="Malgun Gothic"/>
                          <a:cs typeface="Malgun Gothic" pitchFamily="34" charset="-120"/>
                        </a:rPr>
                        <a:t>단계</a:t>
                      </a:r>
                      <a:endParaRPr lang="en-US" altLang="ko-KR" sz="900" b="1" dirty="0" err="1">
                        <a:solidFill>
                          <a:srgbClr val="0B7A70"/>
                        </a:solidFill>
                        <a:latin typeface="Malgun Gothic"/>
                        <a:ea typeface="Malgun Gothic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2130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· 마무리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개인화 재정렬·봇·피드백 통합, 통합 테스트 및 문서화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중간·최종 보고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 Library  ·  성능·데이터 파트 보고서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경과 (1) — 담당 파트 개요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Malgun Gothic"/>
                <a:ea typeface="Malgun Gothic"/>
                <a:cs typeface="Malgun Gothic" pitchFamily="34" charset="-120"/>
              </a:rPr>
              <a:t>▶ 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성능·데이터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파트가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추천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파이프라인에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결합되는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지점과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세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가지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산출물</a:t>
            </a:r>
            <a:endParaRPr lang="en-US" sz="1150" dirty="0" err="1">
              <a:solidFill>
                <a:srgbClr val="5B6B7F"/>
              </a:solidFill>
              <a:latin typeface="Malgun Gothic"/>
              <a:ea typeface="Malgun Gothic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1170432" cy="603504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71600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8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632204" y="1673352"/>
            <a:ext cx="10972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764792" y="1371600"/>
            <a:ext cx="1170432" cy="603504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92224" y="1371600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시맨틱 캐시 확인  ★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939796" y="1673352"/>
            <a:ext cx="10972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72384" y="1371600"/>
            <a:ext cx="1170432" cy="603504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9816" y="1371600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8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검색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247388" y="1673352"/>
            <a:ext cx="10972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79976" y="1371600"/>
            <a:ext cx="1170432" cy="603504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1371600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8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 재정렬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554980" y="1673352"/>
            <a:ext cx="10972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87568" y="1371600"/>
            <a:ext cx="1170432" cy="603504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1371600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정보 결합  ★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862572" y="1673352"/>
            <a:ext cx="10972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95160" y="1371600"/>
            <a:ext cx="1170432" cy="603504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2592" y="1371600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8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추천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57200" y="2084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i="1" dirty="0">
              <a:solidFill>
                <a:srgbClr val="5B6B7F"/>
              </a:solidFill>
              <a:latin typeface="Malgun Gothic"/>
              <a:ea typeface="Malgun Gothic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2395728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21304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96896"/>
            <a:ext cx="384048" cy="38404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2331720" y="2560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55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58368" y="305409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&amp; AI 요약 시스템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58368" y="3493008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20" dirty="0">
                <a:solidFill>
                  <a:srgbClr val="CFE9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저장 → 통계 갱신 → RabbitMQ 큐 → LLM 요약을 이벤트·비동기로 처리. Map-Reduce와 누적 요약을 상황에 따라 선택.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3291840" y="2395728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21304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2596896"/>
            <a:ext cx="384048" cy="38404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166360" y="2560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55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3493008" y="305409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정보의 RAG 반영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3493008" y="3493008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20" dirty="0">
                <a:solidFill>
                  <a:srgbClr val="CFE9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후보 도서에 평점·리뷰 요약을 결합(N+1 방지)하고, LLM 프롬프트가 실제 독자 평가를 근거로 추천하도록 규칙화.</a:t>
            </a:r>
            <a:endParaRPr lang="en-US" sz="920" dirty="0"/>
          </a:p>
        </p:txBody>
      </p:sp>
      <p:sp>
        <p:nvSpPr>
          <p:cNvPr id="37" name="Shape 33"/>
          <p:cNvSpPr/>
          <p:nvPr/>
        </p:nvSpPr>
        <p:spPr>
          <a:xfrm>
            <a:off x="6126480" y="2395728"/>
            <a:ext cx="2560320" cy="2148840"/>
          </a:xfrm>
          <a:prstGeom prst="roundRect">
            <a:avLst>
              <a:gd name="adj" fmla="val 3404"/>
            </a:avLst>
          </a:prstGeom>
          <a:solidFill>
            <a:srgbClr val="21304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2596896"/>
            <a:ext cx="384048" cy="38404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001000" y="2560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55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40" name="Text 35"/>
          <p:cNvSpPr/>
          <p:nvPr/>
        </p:nvSpPr>
        <p:spPr>
          <a:xfrm>
            <a:off x="6327648" y="305409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시맨틱 캐싱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327648" y="3493008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20" dirty="0">
                <a:solidFill>
                  <a:srgbClr val="CFE9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임베딩해 pgvector 코사인 유사도로 유사 질문의 응답을 재사용. TTL·웜업·만료 정리로 운영.</a:t>
            </a:r>
            <a:endParaRPr lang="en-US" sz="920" dirty="0"/>
          </a:p>
        </p:txBody>
      </p:sp>
      <p:sp>
        <p:nvSpPr>
          <p:cNvPr id="43" name="Text 38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 Library  ·  성능·데이터 파트 보고서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경과 (2) — 리뷰 · AI 요약 파이프라인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Malgun Gothic"/>
                <a:ea typeface="Malgun Gothic"/>
                <a:cs typeface="Malgun Gothic" pitchFamily="34" charset="-120"/>
              </a:rPr>
              <a:t>▶ 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리뷰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저장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이후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통계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갱신과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요약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생성을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이벤트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/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메시지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큐로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분리해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비동기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처리</a:t>
            </a:r>
            <a:endParaRPr lang="en-US" sz="1150" dirty="0" err="1">
              <a:solidFill>
                <a:srgbClr val="5B6B7F"/>
              </a:solidFill>
              <a:latin typeface="Malgun Gothic"/>
              <a:ea typeface="Malgun Gothic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04778"/>
            <a:ext cx="23317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" y="1841354"/>
            <a:ext cx="2221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ReviewService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2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저장 후 이벤트 발행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804778"/>
            <a:ext cx="2331720" cy="786384"/>
          </a:xfrm>
          <a:prstGeom prst="roundRect">
            <a:avLst>
              <a:gd name="adj" fmla="val 6977"/>
            </a:avLst>
          </a:prstGeom>
          <a:solidFill>
            <a:srgbClr val="E3F4F1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46704" y="1841354"/>
            <a:ext cx="2221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7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통계 이벤트 리스너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2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AFTER_COMMIT · REQUIRES_NEW  통계 집계→요약 테이블 갱신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804778"/>
            <a:ext cx="2331720" cy="786384"/>
          </a:xfrm>
          <a:prstGeom prst="roundRect">
            <a:avLst>
              <a:gd name="adj" fmla="val 6977"/>
            </a:avLst>
          </a:prstGeom>
          <a:solidFill>
            <a:srgbClr val="E3F4F1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81344" y="1841354"/>
            <a:ext cx="2221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7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요약 이벤트 리스너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2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@Async  큐 적재 트리거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43784" y="2197970"/>
            <a:ext cx="39319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78424" y="2197970"/>
            <a:ext cx="39319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92340" y="2648196"/>
            <a:ext cx="0" cy="402336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3094082"/>
            <a:ext cx="1755648" cy="786384"/>
          </a:xfrm>
          <a:prstGeom prst="roundRect">
            <a:avLst>
              <a:gd name="adj" fmla="val 6977"/>
            </a:avLst>
          </a:prstGeom>
          <a:solidFill>
            <a:srgbClr val="E3F4F1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" y="313065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7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큐 서비스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2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 Dedup(중복 방지)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31136" y="3487274"/>
            <a:ext cx="25603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05456" y="3094082"/>
            <a:ext cx="1755648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313065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RabbitMQ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2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 Exchange → Queue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9392" y="3477587"/>
            <a:ext cx="25603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53712" y="3094082"/>
            <a:ext cx="1755648" cy="786384"/>
          </a:xfrm>
          <a:prstGeom prst="roundRect">
            <a:avLst>
              <a:gd name="adj" fmla="val 6977"/>
            </a:avLst>
          </a:prstGeom>
          <a:solidFill>
            <a:srgbClr val="E3F4F1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08576" y="313065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7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큐 프로세서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2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@RabbitListener  동시성 3~5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27648" y="3487274"/>
            <a:ext cx="25603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01968" y="3094082"/>
            <a:ext cx="1755648" cy="786384"/>
          </a:xfrm>
          <a:prstGeom prst="roundRect">
            <a:avLst>
              <a:gd name="adj" fmla="val 6977"/>
            </a:avLst>
          </a:prstGeom>
          <a:solidFill>
            <a:srgbClr val="E3F4F1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56832" y="313065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7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AI 요약 서비스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2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검사 → 전략 선택 → ChatModel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 Library  ·  성능·데이터 파트 보고서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경과 (3) — 요약 전략과 동시성 제어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Malgun Gothic"/>
                <a:ea typeface="Malgun Gothic"/>
                <a:cs typeface="Malgun Gothic" pitchFamily="34" charset="-120"/>
              </a:rPr>
              <a:t>▶ 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요약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비용을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줄이는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전략과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,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중복·경쟁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상황을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막는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제어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장치</a:t>
            </a:r>
            <a:endParaRPr lang="en-US" sz="1150" dirty="0" err="1">
              <a:solidFill>
                <a:srgbClr val="5B6B7F"/>
              </a:solidFill>
              <a:latin typeface="Malgun Gothic"/>
              <a:ea typeface="Malgun Gothic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3931920" cy="1207008"/>
          </a:xfrm>
          <a:prstGeom prst="roundRect">
            <a:avLst>
              <a:gd name="adj" fmla="val 5303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0817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Map-Reduce </a:t>
            </a:r>
            <a:r>
              <a:rPr lang="en-US" sz="125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전체</a:t>
            </a:r>
            <a:r>
              <a:rPr lang="en-US" sz="125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요약</a:t>
            </a:r>
            <a:endParaRPr lang="en-US" sz="1250" dirty="0" err="1">
              <a:latin typeface="Malgun Gothic"/>
              <a:ea typeface="Malgun Gothic"/>
            </a:endParaRPr>
          </a:p>
          <a:p>
            <a:pPr>
              <a:lnSpc>
                <a:spcPct val="102000"/>
              </a:lnSpc>
            </a:pPr>
            <a:endParaRPr lang="en-US" sz="950" dirty="0">
              <a:solidFill>
                <a:srgbClr val="1F2A37"/>
              </a:solidFill>
              <a:latin typeface="Malgun Gothic"/>
              <a:ea typeface="Malgun Gothic"/>
              <a:cs typeface="Malgun Gothic" pitchFamily="34" charset="-120"/>
            </a:endParaRPr>
          </a:p>
          <a:p>
            <a:pPr>
              <a:lnSpc>
                <a:spcPct val="102000"/>
              </a:lnSpc>
            </a:pP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리뷰를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10개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청크로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나눠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청크별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요약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(Map)</a:t>
            </a:r>
            <a:endParaRPr lang="en-US" sz="950" dirty="0">
              <a:solidFill>
                <a:srgbClr val="000000"/>
              </a:solidFill>
              <a:latin typeface="Malgun Gothic"/>
              <a:ea typeface="Malgun Gothic"/>
              <a:cs typeface="Calibri"/>
            </a:endParaRPr>
          </a:p>
          <a:p>
            <a:pPr>
              <a:lnSpc>
                <a:spcPct val="102000"/>
              </a:lnSpc>
            </a:pP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 →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장점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/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단점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/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총평으로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통합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(Reduce).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처음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요약하거나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신규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비율이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클 때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사용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.</a:t>
            </a:r>
            <a:endParaRPr lang="en-US" sz="950">
              <a:latin typeface="Malgun Gothic"/>
              <a:ea typeface="Malgun Gothic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633472"/>
            <a:ext cx="3931920" cy="1207008"/>
          </a:xfrm>
          <a:prstGeom prst="roundRect">
            <a:avLst>
              <a:gd name="adj" fmla="val 5303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누적</a:t>
            </a:r>
            <a:r>
              <a:rPr lang="en-US" sz="125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(Incremental) </a:t>
            </a:r>
            <a:r>
              <a:rPr lang="en-US" sz="125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요약</a:t>
            </a:r>
            <a:endParaRPr lang="en-US" sz="125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2000"/>
              </a:lnSpc>
            </a:pPr>
            <a:endParaRPr lang="en-US" sz="950" dirty="0">
              <a:solidFill>
                <a:srgbClr val="1F2A37"/>
              </a:solidFill>
              <a:latin typeface="Malgun Gothic"/>
              <a:ea typeface="Malgun Gothic"/>
              <a:cs typeface="Malgun Gothic" pitchFamily="34" charset="-120"/>
            </a:endParaRPr>
          </a:p>
          <a:p>
            <a:pPr>
              <a:lnSpc>
                <a:spcPct val="102000"/>
              </a:lnSpc>
            </a:pP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직전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요약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이후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새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리뷰만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요약한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뒤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기존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요약과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병합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(Merge). </a:t>
            </a:r>
            <a:endParaRPr lang="en-US" sz="12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2000"/>
              </a:lnSpc>
              <a:buNone/>
            </a:pP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매번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전체를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다시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읽지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않아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LLM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호출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비용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절감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968496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21304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6849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기준  </a:t>
            </a:r>
            <a:r>
              <a:rPr lang="en-US" sz="960" dirty="0">
                <a:solidFill>
                  <a:srgbClr val="E6E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리뷰 비율이 </a:t>
            </a: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r>
              <a:rPr lang="en-US" sz="960" dirty="0">
                <a:solidFill>
                  <a:srgbClr val="E6E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이상이면 전체 재요약, 미만이면 누적 요약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16736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919472" y="1261872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</a:pPr>
            <a:r>
              <a:rPr lang="en-US" sz="105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Dirty Flag 3조건  </a:t>
            </a:r>
            <a:endParaRPr lang="en-US" sz="105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8000"/>
              </a:lnSpc>
            </a:pP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리뷰수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≥ 5 +  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요약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필요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(dirty) +  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생성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중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아님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— 셋 다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만족할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때만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요약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실행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83664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19472" y="1828800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</a:pPr>
            <a:r>
              <a:rPr lang="en-US" sz="105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중복</a:t>
            </a:r>
            <a:r>
              <a:rPr lang="en-US" sz="105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5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실행</a:t>
            </a:r>
            <a:r>
              <a:rPr lang="en-US" sz="105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5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잠금</a:t>
            </a:r>
            <a:r>
              <a:rPr lang="en-US" sz="105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  </a:t>
            </a:r>
            <a:endParaRPr lang="en-US" sz="1050" dirty="0">
              <a:solidFill>
                <a:srgbClr val="000000"/>
              </a:solidFill>
              <a:latin typeface="Malgun Gothic"/>
              <a:ea typeface="Malgun Gothic"/>
              <a:cs typeface="Calibri" panose="020F0502020204030204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실행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직전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isGenerating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=true 로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표시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(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saveAndFlush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) →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동시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유입돼도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한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번만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생성</a:t>
            </a:r>
            <a:endParaRPr lang="en-US" sz="900" dirty="0" err="1">
              <a:latin typeface="Malgun Gothic"/>
              <a:ea typeface="Malgun Gothic"/>
              <a:cs typeface="Calibri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450592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19472" y="2395728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</a:pPr>
            <a:r>
              <a:rPr lang="en-US" sz="105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큐 5초 </a:t>
            </a:r>
            <a:r>
              <a:rPr lang="en-US" sz="1050" b="1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Dedup</a:t>
            </a:r>
            <a:endParaRPr lang="en-US" sz="1050" err="1">
              <a:solidFill>
                <a:srgbClr val="000000"/>
              </a:solidFill>
              <a:latin typeface="Malgun Gothic"/>
              <a:ea typeface="Malgun Gothic"/>
              <a:cs typeface="Calibri" panose="020F0502020204030204"/>
            </a:endParaRPr>
          </a:p>
          <a:p>
            <a:pPr>
              <a:lnSpc>
                <a:spcPct val="98000"/>
              </a:lnSpc>
            </a:pP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짧은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시간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몰린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같은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도서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요청은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한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건으로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합쳐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불필요한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LLM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호출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차단</a:t>
            </a:r>
            <a:endParaRPr lang="en-US" sz="900" err="1">
              <a:latin typeface="Malgun Gothic"/>
              <a:ea typeface="Malgun Gothic"/>
              <a:cs typeface="Calibri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017520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19472" y="2962656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</a:pPr>
            <a:r>
              <a:rPr lang="en-US" sz="105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낙관적</a:t>
            </a:r>
            <a:r>
              <a:rPr lang="en-US" sz="105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 락(@Version)  </a:t>
            </a:r>
            <a:endParaRPr lang="en-US" sz="1050" dirty="0">
              <a:solidFill>
                <a:srgbClr val="000000"/>
              </a:solidFill>
              <a:latin typeface="Malgun Gothic"/>
              <a:ea typeface="Malgun Gothic"/>
              <a:cs typeface="Calibri" panose="020F0502020204030204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동시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갱신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충돌을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버전으로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감지해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통계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/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요약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정합성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보장</a:t>
            </a:r>
            <a:endParaRPr lang="en-US" sz="900" dirty="0" err="1">
              <a:latin typeface="Malgun Gothic"/>
              <a:ea typeface="Malgun Gothic"/>
              <a:cs typeface="Calibri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4663440" y="3621024"/>
            <a:ext cx="4023360" cy="932688"/>
          </a:xfrm>
          <a:prstGeom prst="roundRect">
            <a:avLst>
              <a:gd name="adj" fmla="val 5882"/>
            </a:avLst>
          </a:prstGeom>
          <a:solidFill>
            <a:srgbClr val="0F1B2E"/>
          </a:solidFill>
          <a:ln/>
        </p:spPr>
      </p:sp>
      <p:sp>
        <p:nvSpPr>
          <p:cNvPr id="22" name="Text 16"/>
          <p:cNvSpPr/>
          <p:nvPr/>
        </p:nvSpPr>
        <p:spPr>
          <a:xfrm>
            <a:off x="4809744" y="369417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</a:pPr>
            <a:endParaRPr lang="en-US" sz="850" dirty="0">
              <a:solidFill>
                <a:srgbClr val="9FE9DF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US" sz="850" dirty="0" err="1">
                <a:solidFill>
                  <a:srgbClr val="9FE9DF"/>
                </a:solidFill>
                <a:latin typeface="Consolas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850" dirty="0">
                <a:solidFill>
                  <a:srgbClr val="9FE9D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50" dirty="0" err="1">
                <a:solidFill>
                  <a:srgbClr val="9FE9DF"/>
                </a:solidFill>
                <a:latin typeface="Consolas"/>
                <a:ea typeface="Consolas" pitchFamily="34" charset="-122"/>
                <a:cs typeface="Consolas" pitchFamily="34" charset="-120"/>
              </a:rPr>
              <a:t>shouldGenerateSummary</a:t>
            </a:r>
            <a:r>
              <a:rPr lang="en-US" sz="850" dirty="0">
                <a:solidFill>
                  <a:srgbClr val="9FE9DF"/>
                </a:solidFill>
                <a:latin typeface="Consolas"/>
                <a:ea typeface="Consolas" pitchFamily="34" charset="-122"/>
                <a:cs typeface="Consolas" pitchFamily="34" charset="-120"/>
              </a:rPr>
              <a:t>() {</a:t>
            </a:r>
            <a:endParaRPr lang="en-US" sz="85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US" sz="850" dirty="0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  return </a:t>
            </a:r>
            <a:r>
              <a:rPr lang="en-US" sz="850" dirty="0" err="1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reviewCount</a:t>
            </a:r>
            <a:r>
              <a:rPr lang="en-US" sz="850" dirty="0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 &gt;= 5</a:t>
            </a:r>
            <a:endParaRPr lang="en-US" sz="850" dirty="0">
              <a:latin typeface="Consolas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US" sz="850" dirty="0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&amp;&amp; </a:t>
            </a:r>
            <a:r>
              <a:rPr lang="en-US" sz="850" dirty="0" err="1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isSummaryDirty</a:t>
            </a:r>
            <a:endParaRPr lang="en-US" sz="850" dirty="0" err="1">
              <a:latin typeface="Consolas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US" sz="850" dirty="0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&amp;&amp; !</a:t>
            </a:r>
            <a:r>
              <a:rPr lang="en-US" sz="850" dirty="0" err="1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isGenerating</a:t>
            </a:r>
            <a:r>
              <a:rPr lang="en-US" sz="850" dirty="0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>
              <a:latin typeface="Consolas"/>
            </a:endParaRPr>
          </a:p>
          <a:p>
            <a:pPr marL="0" indent="0">
              <a:lnSpc>
                <a:spcPct val="98000"/>
              </a:lnSpc>
              <a:buNone/>
            </a:pPr>
            <a:r>
              <a:rPr lang="en-US" sz="860" dirty="0">
                <a:solidFill>
                  <a:srgbClr val="9FE9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60" dirty="0"/>
          </a:p>
        </p:txBody>
      </p:sp>
      <p:sp>
        <p:nvSpPr>
          <p:cNvPr id="23" name="Text 17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 Library  ·  성능·데이터 파트 보고서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경과 (4) — 리뷰 정보의 RAG 반영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Malgun Gothic"/>
                <a:ea typeface="Malgun Gothic"/>
                <a:cs typeface="Malgun Gothic" pitchFamily="34" charset="-120"/>
              </a:rPr>
              <a:t>▶ 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검색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결과에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실제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독자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평가를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결합하고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,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LLM이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이를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근거로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추천하도록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프롬프트를</a:t>
            </a:r>
            <a:r>
              <a:rPr lang="en-US" sz="115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설계</a:t>
            </a:r>
            <a:endParaRPr lang="en-US" sz="1150" dirty="0" err="1">
              <a:solidFill>
                <a:srgbClr val="5B6B7F"/>
              </a:solidFill>
              <a:latin typeface="Malgun Gothic"/>
              <a:ea typeface="Malgun Gothic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후보 도서에 리뷰 정보 결합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" y="1664208"/>
            <a:ext cx="3867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하이브리드</a:t>
            </a:r>
            <a:r>
              <a:rPr lang="en-US" sz="105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5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검색</a:t>
            </a:r>
            <a:r>
              <a:rPr lang="en-US" sz="105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 → </a:t>
            </a:r>
            <a:r>
              <a:rPr lang="en-US" sz="105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개인화</a:t>
            </a:r>
            <a:r>
              <a:rPr lang="en-US" sz="105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5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재정렬</a:t>
            </a:r>
            <a:r>
              <a:rPr lang="en-US" sz="105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5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결과</a:t>
            </a:r>
          </a:p>
          <a:p>
            <a:pPr algn="ctr">
              <a:lnSpc>
                <a:spcPct val="95000"/>
              </a:lnSpc>
            </a:pPr>
            <a:r>
              <a:rPr lang="en-US" sz="800" dirty="0">
                <a:solidFill>
                  <a:srgbClr val="5B6B7F"/>
                </a:solidFill>
                <a:latin typeface="Malgun Gothic"/>
                <a:ea typeface="Malgun Gothic"/>
              </a:rPr>
              <a:t>BookSearchItemResponse</a:t>
            </a:r>
            <a:r>
              <a:rPr lang="en-US" altLang="ko-KR" sz="800" dirty="0">
                <a:solidFill>
                  <a:srgbClr val="5B6B7F"/>
                </a:solidFill>
                <a:latin typeface="Malgun Gothic"/>
                <a:ea typeface="Malgun Gothic"/>
              </a:rPr>
              <a:t> </a:t>
            </a:r>
            <a:r>
              <a:rPr lang="ko-KR" altLang="en-US" sz="800" dirty="0">
                <a:solidFill>
                  <a:srgbClr val="5B6B7F"/>
                </a:solidFill>
                <a:latin typeface="Malgun Gothic"/>
                <a:ea typeface="Malgun Gothic"/>
              </a:rPr>
              <a:t>목록</a:t>
            </a:r>
            <a:endParaRPr lang="en-US" sz="105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46020" y="2212848"/>
            <a:ext cx="0" cy="256032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2487168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E3F4F1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523744"/>
            <a:ext cx="3867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 err="1">
                <a:solidFill>
                  <a:srgbClr val="0B7A70"/>
                </a:solidFill>
                <a:latin typeface="Malgun Gothic"/>
                <a:ea typeface="Malgun Gothic"/>
                <a:cs typeface="Malgun Gothic" pitchFamily="34" charset="-120"/>
              </a:rPr>
              <a:t>ReviewInfoEnricher</a:t>
            </a:r>
            <a:endParaRPr lang="en-US" sz="1050" dirty="0" err="1">
              <a:latin typeface="Malgun Gothic"/>
              <a:ea typeface="Malgun Gothic"/>
            </a:endParaRPr>
          </a:p>
          <a:p>
            <a:pPr algn="ctr">
              <a:lnSpc>
                <a:spcPct val="95000"/>
              </a:lnSpc>
            </a:pPr>
            <a:r>
              <a:rPr lang="en-US" sz="80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book_id</a:t>
            </a:r>
            <a:r>
              <a:rPr lang="en-US" sz="80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IN (...) → </a:t>
            </a:r>
            <a:r>
              <a:rPr lang="en-US" sz="80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단일</a:t>
            </a:r>
            <a:r>
              <a:rPr lang="en-US" sz="80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쿼리로</a:t>
            </a:r>
            <a:r>
              <a:rPr lang="en-US" sz="80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요약</a:t>
            </a:r>
            <a:r>
              <a:rPr lang="en-US" sz="80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조회</a:t>
            </a:r>
            <a:r>
              <a:rPr lang="en-US" sz="800" dirty="0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 → </a:t>
            </a:r>
            <a:r>
              <a:rPr lang="en-US" sz="800" dirty="0" err="1">
                <a:solidFill>
                  <a:srgbClr val="5B6B7F"/>
                </a:solidFill>
                <a:latin typeface="Malgun Gothic"/>
                <a:ea typeface="Malgun Gothic"/>
                <a:cs typeface="Malgun Gothic" pitchFamily="34" charset="-120"/>
              </a:rPr>
              <a:t>결합</a:t>
            </a:r>
            <a:endParaRPr lang="en-US" sz="105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446020" y="3072384"/>
            <a:ext cx="0" cy="256032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3328416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" y="3364992"/>
            <a:ext cx="3867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RagBookCandidate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2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평점·리뷰수·리뷰 요약이 포함된 후보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151376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E3F4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5137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000" b="1" dirty="0">
                <a:solidFill>
                  <a:srgbClr val="0B7A70"/>
                </a:solidFill>
                <a:latin typeface="Malgun Gothic"/>
                <a:ea typeface="Malgun Gothic"/>
                <a:cs typeface="Malgun Gothic" pitchFamily="34" charset="-120"/>
              </a:rPr>
              <a:t>N+1 </a:t>
            </a:r>
            <a:r>
              <a:rPr lang="en-US" sz="1000" b="1" dirty="0" err="1">
                <a:solidFill>
                  <a:srgbClr val="0B7A70"/>
                </a:solidFill>
                <a:latin typeface="Malgun Gothic"/>
                <a:ea typeface="Malgun Gothic"/>
                <a:cs typeface="Malgun Gothic" pitchFamily="34" charset="-120"/>
              </a:rPr>
              <a:t>방지</a:t>
            </a:r>
            <a:r>
              <a:rPr lang="en-US" sz="1000" b="1" dirty="0">
                <a:solidFill>
                  <a:srgbClr val="0B7A70"/>
                </a:solidFill>
                <a:latin typeface="Malgun Gothic"/>
                <a:ea typeface="Malgun Gothic"/>
                <a:cs typeface="Malgun Gothic" pitchFamily="34" charset="-120"/>
              </a:rPr>
              <a:t>  </a:t>
            </a:r>
            <a:endParaRPr lang="en-US" sz="10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900" dirty="0" err="1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후보가</a:t>
            </a:r>
            <a:r>
              <a:rPr lang="en-US" sz="900" dirty="0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여러</a:t>
            </a:r>
            <a:r>
              <a:rPr lang="en-US" sz="900" dirty="0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건이어도</a:t>
            </a:r>
            <a:r>
              <a:rPr lang="en-US" sz="900" dirty="0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리뷰</a:t>
            </a:r>
            <a:r>
              <a:rPr lang="en-US" sz="900" dirty="0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요약은</a:t>
            </a:r>
            <a:r>
              <a:rPr lang="en-US" sz="900" dirty="0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 IN </a:t>
            </a:r>
            <a:r>
              <a:rPr lang="en-US" sz="900" dirty="0" err="1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쿼리</a:t>
            </a:r>
            <a:r>
              <a:rPr lang="en-US" sz="900" dirty="0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b="1" dirty="0">
                <a:solidFill>
                  <a:srgbClr val="0B7A70"/>
                </a:solidFill>
                <a:latin typeface="Malgun Gothic"/>
                <a:ea typeface="Malgun Gothic"/>
                <a:cs typeface="Malgun Gothic" pitchFamily="34" charset="-120"/>
              </a:rPr>
              <a:t>한 </a:t>
            </a:r>
            <a:r>
              <a:rPr lang="en-US" sz="950" b="1" dirty="0" err="1">
                <a:solidFill>
                  <a:srgbClr val="0B7A70"/>
                </a:solidFill>
                <a:latin typeface="Malgun Gothic"/>
                <a:ea typeface="Malgun Gothic"/>
                <a:cs typeface="Malgun Gothic" pitchFamily="34" charset="-120"/>
              </a:rPr>
              <a:t>번</a:t>
            </a:r>
            <a:r>
              <a:rPr lang="en-US" sz="900" dirty="0" err="1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으로</a:t>
            </a:r>
            <a:r>
              <a:rPr lang="en-US" sz="900" dirty="0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모아</a:t>
            </a:r>
            <a:r>
              <a:rPr lang="en-US" sz="900" dirty="0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04A44"/>
                </a:solidFill>
                <a:latin typeface="Malgun Gothic"/>
                <a:ea typeface="Malgun Gothic"/>
                <a:cs typeface="Malgun Gothic" pitchFamily="34" charset="-120"/>
              </a:rPr>
              <a:t>조회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09160" y="1280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프롬프트의 리뷰 반영 규칙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27448" y="170078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928616" y="1627632"/>
            <a:ext cx="3758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 ≥ 4.0 이고 리뷰수 ≥ 20 인 도서를 우선 고려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4727448" y="215798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928616" y="2084832"/>
            <a:ext cx="3758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요약이 있으면 그 내용으로 구체적 추천 이유 작성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727448" y="261518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928616" y="2542032"/>
            <a:ext cx="3758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 &lt; 3.5 인 도서는 평가가 엇갈린다는 점을 명시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727448" y="307238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28616" y="2999232"/>
            <a:ext cx="3758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리뷰가 없는 도서는 신간으로 간주해 설명·유사도만으로 판단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727448" y="352958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928616" y="3456432"/>
            <a:ext cx="3758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컨텍스트는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후보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목록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내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도서만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사용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(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환각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방지</a:t>
            </a:r>
            <a:r>
              <a:rPr lang="en-US" sz="95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) </a:t>
            </a:r>
            <a:endParaRPr lang="ko-KR" altLang="en-US" sz="950" dirty="0">
              <a:solidFill>
                <a:srgbClr val="1F2A37"/>
              </a:solidFill>
              <a:latin typeface="Malgun Gothic"/>
              <a:ea typeface="Malgun Gothic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09160" y="3968496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0F1B2E"/>
          </a:solidFill>
          <a:ln/>
        </p:spPr>
      </p:sp>
      <p:sp>
        <p:nvSpPr>
          <p:cNvPr id="30" name="Text 28"/>
          <p:cNvSpPr/>
          <p:nvPr/>
        </p:nvSpPr>
        <p:spPr>
          <a:xfrm>
            <a:off x="4855464" y="4059936"/>
            <a:ext cx="3703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800" dirty="0">
              <a:solidFill>
                <a:srgbClr val="9FE9DF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9FE9DF"/>
                </a:solidFill>
                <a:latin typeface="Consolas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800" dirty="0" err="1">
                <a:solidFill>
                  <a:srgbClr val="9FE9DF"/>
                </a:solidFill>
                <a:latin typeface="Consolas"/>
                <a:ea typeface="Consolas" pitchFamily="34" charset="-122"/>
                <a:cs typeface="Consolas" pitchFamily="34" charset="-120"/>
              </a:rPr>
              <a:t>후보</a:t>
            </a:r>
            <a:r>
              <a:rPr lang="en-US" sz="800" dirty="0">
                <a:solidFill>
                  <a:srgbClr val="9FE9D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9FE9DF"/>
                </a:solidFill>
                <a:latin typeface="Consolas"/>
                <a:ea typeface="Consolas" pitchFamily="34" charset="-122"/>
                <a:cs typeface="Consolas" pitchFamily="34" charset="-120"/>
              </a:rPr>
              <a:t>도서</a:t>
            </a:r>
            <a:r>
              <a:rPr lang="en-US" sz="800" dirty="0">
                <a:solidFill>
                  <a:srgbClr val="9FE9DF"/>
                </a:solidFill>
                <a:latin typeface="Consolas"/>
                <a:ea typeface="Consolas" pitchFamily="34" charset="-122"/>
                <a:cs typeface="Consolas" pitchFamily="34" charset="-120"/>
              </a:rPr>
              <a:t>]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title: ...   </a:t>
            </a:r>
            <a:r>
              <a:rPr lang="en-US" sz="800" dirty="0" err="1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averageRating</a:t>
            </a:r>
            <a:r>
              <a:rPr lang="en-US" sz="800" dirty="0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: 4.3</a:t>
            </a:r>
            <a:endParaRPr lang="en-US" sz="800" dirty="0">
              <a:latin typeface="Consola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 err="1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reviewCount</a:t>
            </a:r>
            <a:r>
              <a:rPr lang="en-US" sz="800" dirty="0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: 128</a:t>
            </a:r>
            <a:endParaRPr lang="en-US" sz="800" dirty="0">
              <a:latin typeface="Consola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 err="1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reviewSummary</a:t>
            </a:r>
            <a:r>
              <a:rPr lang="en-US" sz="800" dirty="0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800" dirty="0" err="1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장점</a:t>
            </a:r>
            <a:r>
              <a:rPr lang="en-US" sz="800" dirty="0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 ... </a:t>
            </a:r>
            <a:r>
              <a:rPr lang="en-US" sz="800" dirty="0" err="1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단점</a:t>
            </a:r>
            <a:r>
              <a:rPr lang="en-US" sz="800" dirty="0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 ... </a:t>
            </a:r>
            <a:r>
              <a:rPr lang="en-US" sz="800" dirty="0" err="1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총평</a:t>
            </a:r>
            <a:r>
              <a:rPr lang="en-US" sz="800" dirty="0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 ...</a:t>
            </a:r>
            <a:endParaRPr lang="en-US" sz="800" dirty="0">
              <a:latin typeface="Consola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 Library  ·  성능·데이터 파트 보고서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경과 (5) — 시맨틱 캐싱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</a:t>
            </a:r>
            <a:r>
              <a:rPr lang="en-US" sz="11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임베딩해 의미가 비슷한 과거 응답을 재사용, 반복 질문의 응답 속도를 개선.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3DBE6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" y="1408176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임베딩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2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bge-m3 (1024차원)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37160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E3F4F1"/>
          </a:solidFill>
          <a:ln w="17780">
            <a:solidFill>
              <a:srgbClr val="0D9488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43784" y="1408176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B7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pgvector 코사인 검색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2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book_search_cache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68296" y="1737360"/>
            <a:ext cx="384048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1371600"/>
            <a:ext cx="1874520" cy="731520"/>
          </a:xfrm>
          <a:prstGeom prst="roundRect">
            <a:avLst>
              <a:gd name="adj" fmla="val 7500"/>
            </a:avLst>
          </a:prstGeom>
          <a:solidFill>
            <a:srgbClr val="213047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3716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≥ 0.95 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36592" y="1737360"/>
            <a:ext cx="347472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57900" y="2121408"/>
            <a:ext cx="0" cy="292608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80260" y="2414016"/>
            <a:ext cx="397764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80260" y="2414016"/>
            <a:ext cx="0" cy="27432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57900" y="2414016"/>
            <a:ext cx="0" cy="27432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80060" y="236829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B7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(유사 질문 존재)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04204" y="23682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아니오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2688336"/>
            <a:ext cx="3063240" cy="804672"/>
          </a:xfrm>
          <a:prstGeom prst="roundRect">
            <a:avLst>
              <a:gd name="adj" fmla="val 7955"/>
            </a:avLst>
          </a:prstGeom>
          <a:solidFill>
            <a:srgbClr val="E3F4F1"/>
          </a:solidFill>
          <a:ln w="1651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8833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B7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  </a:t>
            </a:r>
            <a:r>
              <a:rPr lang="en-US" sz="950" dirty="0">
                <a:solidFill>
                  <a:srgbClr val="104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touch(접근수++) 후 캐시 응답 즉시 반환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65676" y="2688336"/>
            <a:ext cx="3584448" cy="804672"/>
          </a:xfrm>
          <a:prstGeom prst="roundRect">
            <a:avLst>
              <a:gd name="adj" fmla="val 7955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48556" y="2688336"/>
            <a:ext cx="3264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MISS  </a:t>
            </a:r>
            <a:r>
              <a:rPr lang="en-US" sz="9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RAG 실행 후 성공 결과만 put (TTL 30분)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4206240" cy="932688"/>
          </a:xfrm>
          <a:prstGeom prst="roundRect">
            <a:avLst>
              <a:gd name="adj" fmla="val 5882"/>
            </a:avLst>
          </a:prstGeom>
          <a:solidFill>
            <a:srgbClr val="0F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3822192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800" dirty="0">
              <a:solidFill>
                <a:srgbClr val="6FBFB6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FBFB6"/>
                </a:solidFill>
                <a:latin typeface="Consolas"/>
                <a:ea typeface="Consolas" pitchFamily="34" charset="-122"/>
                <a:cs typeface="Consolas" pitchFamily="34" charset="-120"/>
              </a:rPr>
              <a:t>-- </a:t>
            </a:r>
            <a:r>
              <a:rPr lang="en-US" sz="800" dirty="0" err="1">
                <a:solidFill>
                  <a:srgbClr val="6FBFB6"/>
                </a:solidFill>
                <a:latin typeface="Consolas"/>
                <a:ea typeface="Consolas" pitchFamily="34" charset="-122"/>
                <a:cs typeface="Consolas" pitchFamily="34" charset="-120"/>
              </a:rPr>
              <a:t>미만료</a:t>
            </a:r>
            <a:r>
              <a:rPr lang="en-US" sz="800" dirty="0">
                <a:solidFill>
                  <a:srgbClr val="6FBFB6"/>
                </a:solidFill>
                <a:latin typeface="Consolas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800" dirty="0" err="1">
                <a:solidFill>
                  <a:srgbClr val="6FBFB6"/>
                </a:solidFill>
                <a:latin typeface="Consolas"/>
                <a:ea typeface="Consolas" pitchFamily="34" charset="-122"/>
                <a:cs typeface="Consolas" pitchFamily="34" charset="-120"/>
              </a:rPr>
              <a:t>임계값</a:t>
            </a:r>
            <a:r>
              <a:rPr lang="en-US" sz="800" dirty="0">
                <a:solidFill>
                  <a:srgbClr val="6FBFB6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6FBFB6"/>
                </a:solidFill>
                <a:latin typeface="Consolas"/>
                <a:ea typeface="Consolas" pitchFamily="34" charset="-122"/>
                <a:cs typeface="Consolas" pitchFamily="34" charset="-120"/>
              </a:rPr>
              <a:t>이상</a:t>
            </a:r>
            <a:r>
              <a:rPr lang="en-US" sz="800" dirty="0">
                <a:solidFill>
                  <a:srgbClr val="6FBFB6"/>
                </a:solidFill>
                <a:latin typeface="Consolas"/>
                <a:ea typeface="Consolas" pitchFamily="34" charset="-122"/>
                <a:cs typeface="Consolas" pitchFamily="34" charset="-120"/>
              </a:rPr>
              <a:t> 중 </a:t>
            </a:r>
            <a:r>
              <a:rPr lang="en-US" sz="800" dirty="0" err="1">
                <a:solidFill>
                  <a:srgbClr val="6FBFB6"/>
                </a:solidFill>
                <a:latin typeface="Consolas"/>
                <a:ea typeface="Consolas" pitchFamily="34" charset="-122"/>
                <a:cs typeface="Consolas" pitchFamily="34" charset="-120"/>
              </a:rPr>
              <a:t>가장</a:t>
            </a:r>
            <a:r>
              <a:rPr lang="en-US" sz="800" dirty="0">
                <a:solidFill>
                  <a:srgbClr val="6FBFB6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>
                <a:solidFill>
                  <a:srgbClr val="6FBFB6"/>
                </a:solidFill>
                <a:latin typeface="Consolas"/>
                <a:ea typeface="Consolas" pitchFamily="34" charset="-122"/>
                <a:cs typeface="Consolas" pitchFamily="34" charset="-120"/>
              </a:rPr>
              <a:t>유사한</a:t>
            </a:r>
            <a:r>
              <a:rPr lang="en-US" sz="800" dirty="0">
                <a:solidFill>
                  <a:srgbClr val="6FBFB6"/>
                </a:solidFill>
                <a:latin typeface="Consolas"/>
                <a:ea typeface="Consolas" pitchFamily="34" charset="-122"/>
                <a:cs typeface="Consolas" pitchFamily="34" charset="-120"/>
              </a:rPr>
              <a:t> 1건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8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(embedding &lt;=&gt; ?::vector) AS similarity</a:t>
            </a:r>
            <a:endParaRPr lang="en-US" sz="82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800" dirty="0" err="1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expires_at</a:t>
            </a:r>
            <a:r>
              <a:rPr lang="en-US" sz="800" dirty="0">
                <a:solidFill>
                  <a:srgbClr val="E6EEF7"/>
                </a:solidFill>
                <a:latin typeface="Consolas"/>
                <a:ea typeface="Consolas" pitchFamily="34" charset="-122"/>
                <a:cs typeface="Consolas" pitchFamily="34" charset="-120"/>
              </a:rPr>
              <a:t> &gt; now()</a:t>
            </a:r>
            <a:endParaRPr lang="en-US" sz="820" dirty="0">
              <a:latin typeface="Consolas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8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embedding &lt;=&gt; ?::vector LIMIT 1</a:t>
            </a:r>
            <a:endParaRPr lang="en-US" sz="82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767328"/>
            <a:ext cx="182880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102352" y="3721608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웜업</a:t>
            </a:r>
            <a:r>
              <a:rPr lang="en-US" sz="100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(Warm-up)  </a:t>
            </a:r>
            <a:endParaRPr lang="en-US" sz="1000" dirty="0">
              <a:solidFill>
                <a:srgbClr val="000000"/>
              </a:solidFill>
              <a:latin typeface="Malgun Gothic"/>
              <a:ea typeface="Malgun Gothic"/>
              <a:cs typeface="Calibri" panose="020F0502020204030204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앱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기동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시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인기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질문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8개를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미리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캐시에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적재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(@Async)</a:t>
            </a:r>
            <a:endParaRPr lang="en-US" sz="900">
              <a:latin typeface="Malgun Gothic"/>
              <a:ea typeface="Malgun Gothic"/>
              <a:cs typeface="Calibri"/>
            </a:endParaRPr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087368"/>
            <a:ext cx="182880" cy="1828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102352" y="4041648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만료</a:t>
            </a:r>
            <a:r>
              <a:rPr lang="en-US" sz="100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정리</a:t>
            </a:r>
            <a:r>
              <a:rPr lang="en-US" sz="100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endParaRPr lang="en-US" sz="1000" dirty="0">
              <a:solidFill>
                <a:srgbClr val="000000"/>
              </a:solidFill>
              <a:latin typeface="Malgun Gothic"/>
              <a:ea typeface="Malgun Gothic"/>
              <a:cs typeface="Calibri" panose="020F0502020204030204"/>
            </a:endParaRPr>
          </a:p>
          <a:p>
            <a:pPr>
              <a:lnSpc>
                <a:spcPct val="95000"/>
              </a:lnSpc>
            </a:pP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매시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정각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스케줄러가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만료된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캐시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삭제</a:t>
            </a:r>
            <a:endParaRPr lang="en-US" sz="900" err="1">
              <a:latin typeface="Malgun Gothic"/>
              <a:ea typeface="Malgun Gothic"/>
              <a:cs typeface="Calibri"/>
            </a:endParaRPr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407408"/>
            <a:ext cx="182880" cy="1828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102352" y="4361688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100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개인화</a:t>
            </a:r>
            <a:r>
              <a:rPr lang="en-US" sz="100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1000" b="1" dirty="0" err="1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예외</a:t>
            </a:r>
            <a:r>
              <a:rPr lang="en-US" sz="1000" b="1" dirty="0">
                <a:solidFill>
                  <a:srgbClr val="213047"/>
                </a:solidFill>
                <a:latin typeface="Malgun Gothic"/>
                <a:ea typeface="Malgun Gothic"/>
                <a:cs typeface="Malgun Gothic" pitchFamily="34" charset="-120"/>
              </a:rPr>
              <a:t>  </a:t>
            </a:r>
            <a:endParaRPr lang="en-US" sz="10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5000"/>
              </a:lnSpc>
            </a:pPr>
            <a:r>
              <a:rPr lang="ko-KR" altLang="en-US" sz="900" dirty="0">
                <a:solidFill>
                  <a:srgbClr val="1F2A37"/>
                </a:solidFill>
                <a:latin typeface="Malgun Gothic"/>
                <a:ea typeface="Malgun Gothic"/>
                <a:cs typeface="Calibri" panose="020F0502020204030204"/>
              </a:rPr>
              <a:t>개인화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요청은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사용자별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결과라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캐시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대상에서</a:t>
            </a:r>
            <a:r>
              <a:rPr lang="en-US" sz="900" dirty="0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1F2A37"/>
                </a:solidFill>
                <a:latin typeface="Malgun Gothic"/>
                <a:ea typeface="Malgun Gothic"/>
                <a:cs typeface="Malgun Gothic" pitchFamily="34" charset="-120"/>
              </a:rPr>
              <a:t>제외</a:t>
            </a:r>
            <a:endParaRPr lang="en-US" sz="900">
              <a:latin typeface="Malgun Gothic"/>
              <a:ea typeface="Malgun Gothic"/>
              <a:cs typeface="Calibri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 Library  ·  성능·데이터 파트 보고서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60548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130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130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평가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80160" y="722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b="1" dirty="0">
              <a:solidFill>
                <a:srgbClr val="0D9488"/>
              </a:solidFill>
              <a:latin typeface="Malgun Gothic"/>
              <a:ea typeface="Malgun Gothic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D3DB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2F5F9"/>
          </a:solidFill>
          <a:ln w="12700">
            <a:solidFill>
              <a:srgbClr val="D3DBE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6304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9264" y="14264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7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· 잘된 점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" y="1847088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저장 → 통계 갱신 → 요약 생성을 이벤트·메시지 큐로 분리해 사용자 요청 경로에 부하 없이 무거운 AI 작업 처리</a:t>
            </a:r>
            <a:endParaRPr lang="en-US" sz="95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AFTER_COMMIT + REQUIRES_NEW 조합으로 커밋 이후 안정적으로 후속 작업이 실행되도록 트랜잭션 함정 해결</a:t>
            </a:r>
            <a:endParaRPr lang="en-US" sz="95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 Flag·5초 Dedup·중복 실행 잠금·낙관적 락으로 중복/경쟁 상황을 다층 방어</a:t>
            </a:r>
            <a:endParaRPr lang="en-US" sz="95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요약과 30% 기준 전체 재요약으로 LLM 호출 비용과 요약 최신성의 균형 확보</a:t>
            </a:r>
            <a:endParaRPr lang="en-US" sz="95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요약을 RAG 컨텍스트·프롬프트에 반영해 실제 독자 평가 기반 추천 실현</a:t>
            </a:r>
            <a:endParaRPr lang="en-US" sz="95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pgvector 시맨틱 캐싱·웜업으로 반복 질문 응답 속도 개선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1298448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BF3E9"/>
          </a:solidFill>
          <a:ln w="12700">
            <a:solidFill>
              <a:srgbClr val="EBD9C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46304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21224" y="14264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73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· 아쉬운 점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65192" y="1847088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43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결과 품질에 대한 정량 평가 지표 없이 프롬프트를 경험적으로 조정</a:t>
            </a:r>
            <a:endParaRPr lang="en-US" sz="95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43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요약/큐 메시지에 대한 재시도(DLQ)·백오프 전략이 미비</a:t>
            </a:r>
            <a:endParaRPr lang="en-US" sz="95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43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시맨틱 캐시 임계값(0.95)·TTL(30분)을 실측 데이터 없이 상수로 고정</a:t>
            </a:r>
            <a:endParaRPr lang="en-US" sz="95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43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 재정렬 이후 RRF 점수 필터가 약해지는 지점을 주석으로만 남기고 미해결</a:t>
            </a:r>
            <a:endParaRPr lang="en-US" sz="950" dirty="0"/>
          </a:p>
          <a:p>
            <a:pPr marL="342900" indent="-342900">
              <a:lnSpc>
                <a:spcPct val="98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A43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요약 LLM 호출이 늘어날 때의 비용/지연에 대한 부하 테스트 부족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720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 Library  ·  성능·데이터 파트 보고서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138160" y="48508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4160520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3" name="Shape 1"/>
          <p:cNvSpPr/>
          <p:nvPr/>
        </p:nvSpPr>
        <p:spPr>
          <a:xfrm>
            <a:off x="7141464" y="4160520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4" name="Shape 2"/>
          <p:cNvSpPr/>
          <p:nvPr/>
        </p:nvSpPr>
        <p:spPr>
          <a:xfrm>
            <a:off x="7379208" y="4160520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5" name="Shape 3"/>
          <p:cNvSpPr/>
          <p:nvPr/>
        </p:nvSpPr>
        <p:spPr>
          <a:xfrm>
            <a:off x="7616952" y="4160520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6" name="Shape 4"/>
          <p:cNvSpPr/>
          <p:nvPr/>
        </p:nvSpPr>
        <p:spPr>
          <a:xfrm>
            <a:off x="7854696" y="4160520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7" name="Shape 5"/>
          <p:cNvSpPr/>
          <p:nvPr/>
        </p:nvSpPr>
        <p:spPr>
          <a:xfrm>
            <a:off x="8092440" y="4160520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8" name="Shape 6"/>
          <p:cNvSpPr/>
          <p:nvPr/>
        </p:nvSpPr>
        <p:spPr>
          <a:xfrm>
            <a:off x="8330184" y="4160520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9" name="Shape 7"/>
          <p:cNvSpPr/>
          <p:nvPr/>
        </p:nvSpPr>
        <p:spPr>
          <a:xfrm>
            <a:off x="8567928" y="4160520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10" name="Shape 8"/>
          <p:cNvSpPr/>
          <p:nvPr/>
        </p:nvSpPr>
        <p:spPr>
          <a:xfrm>
            <a:off x="8805672" y="4160520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11" name="Shape 9"/>
          <p:cNvSpPr/>
          <p:nvPr/>
        </p:nvSpPr>
        <p:spPr>
          <a:xfrm>
            <a:off x="6903720" y="4398264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12" name="Shape 10"/>
          <p:cNvSpPr/>
          <p:nvPr/>
        </p:nvSpPr>
        <p:spPr>
          <a:xfrm>
            <a:off x="7141464" y="4398264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79208" y="4398264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14" name="Shape 12"/>
          <p:cNvSpPr/>
          <p:nvPr/>
        </p:nvSpPr>
        <p:spPr>
          <a:xfrm>
            <a:off x="7616952" y="4398264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15" name="Shape 13"/>
          <p:cNvSpPr/>
          <p:nvPr/>
        </p:nvSpPr>
        <p:spPr>
          <a:xfrm>
            <a:off x="7854696" y="4398264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92440" y="4398264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0184" y="4398264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18" name="Shape 16"/>
          <p:cNvSpPr/>
          <p:nvPr/>
        </p:nvSpPr>
        <p:spPr>
          <a:xfrm>
            <a:off x="8567928" y="4398264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19" name="Shape 17"/>
          <p:cNvSpPr/>
          <p:nvPr/>
        </p:nvSpPr>
        <p:spPr>
          <a:xfrm>
            <a:off x="8805672" y="4398264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20" name="Shape 18"/>
          <p:cNvSpPr/>
          <p:nvPr/>
        </p:nvSpPr>
        <p:spPr>
          <a:xfrm>
            <a:off x="6903720" y="4636008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21" name="Shape 19"/>
          <p:cNvSpPr/>
          <p:nvPr/>
        </p:nvSpPr>
        <p:spPr>
          <a:xfrm>
            <a:off x="7141464" y="4636008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79208" y="4636008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23" name="Shape 21"/>
          <p:cNvSpPr/>
          <p:nvPr/>
        </p:nvSpPr>
        <p:spPr>
          <a:xfrm>
            <a:off x="7616952" y="4636008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24" name="Shape 22"/>
          <p:cNvSpPr/>
          <p:nvPr/>
        </p:nvSpPr>
        <p:spPr>
          <a:xfrm>
            <a:off x="7854696" y="4636008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25" name="Shape 23"/>
          <p:cNvSpPr/>
          <p:nvPr/>
        </p:nvSpPr>
        <p:spPr>
          <a:xfrm>
            <a:off x="8092440" y="4636008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26" name="Shape 24"/>
          <p:cNvSpPr/>
          <p:nvPr/>
        </p:nvSpPr>
        <p:spPr>
          <a:xfrm>
            <a:off x="8330184" y="4636008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27" name="Shape 25"/>
          <p:cNvSpPr/>
          <p:nvPr/>
        </p:nvSpPr>
        <p:spPr>
          <a:xfrm>
            <a:off x="8567928" y="4636008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28" name="Shape 26"/>
          <p:cNvSpPr/>
          <p:nvPr/>
        </p:nvSpPr>
        <p:spPr>
          <a:xfrm>
            <a:off x="8805672" y="4636008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29" name="Shape 27"/>
          <p:cNvSpPr/>
          <p:nvPr/>
        </p:nvSpPr>
        <p:spPr>
          <a:xfrm>
            <a:off x="6903720" y="4873752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30" name="Shape 28"/>
          <p:cNvSpPr/>
          <p:nvPr/>
        </p:nvSpPr>
        <p:spPr>
          <a:xfrm>
            <a:off x="7141464" y="4873752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31" name="Shape 29"/>
          <p:cNvSpPr/>
          <p:nvPr/>
        </p:nvSpPr>
        <p:spPr>
          <a:xfrm>
            <a:off x="7379208" y="4873752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32" name="Shape 30"/>
          <p:cNvSpPr/>
          <p:nvPr/>
        </p:nvSpPr>
        <p:spPr>
          <a:xfrm>
            <a:off x="7616952" y="4873752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33" name="Shape 31"/>
          <p:cNvSpPr/>
          <p:nvPr/>
        </p:nvSpPr>
        <p:spPr>
          <a:xfrm>
            <a:off x="7854696" y="4873752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34" name="Shape 32"/>
          <p:cNvSpPr/>
          <p:nvPr/>
        </p:nvSpPr>
        <p:spPr>
          <a:xfrm>
            <a:off x="8092440" y="4873752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35" name="Shape 33"/>
          <p:cNvSpPr/>
          <p:nvPr/>
        </p:nvSpPr>
        <p:spPr>
          <a:xfrm>
            <a:off x="8330184" y="4873752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36" name="Shape 34"/>
          <p:cNvSpPr/>
          <p:nvPr/>
        </p:nvSpPr>
        <p:spPr>
          <a:xfrm>
            <a:off x="8567928" y="4873752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37" name="Shape 35"/>
          <p:cNvSpPr/>
          <p:nvPr/>
        </p:nvSpPr>
        <p:spPr>
          <a:xfrm>
            <a:off x="8805672" y="4873752"/>
            <a:ext cx="45720" cy="45720"/>
          </a:xfrm>
          <a:prstGeom prst="ellipse">
            <a:avLst/>
          </a:prstGeom>
          <a:solidFill>
            <a:srgbClr val="2C456B"/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1965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0" y="2834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 Library  ·  성능·데이터 파트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0" y="3246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2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권세윤 (ATGG_03_004)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화면 슬라이드 쇼(16:9)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AI Library 프로젝트 보고서</dc:title>
  <dc:subject>PptxGenJS Presentation</dc:subject>
  <dc:creator>권세윤</dc:creator>
  <cp:lastModifiedBy>권세윤</cp:lastModifiedBy>
  <cp:revision>85</cp:revision>
  <dcterms:created xsi:type="dcterms:W3CDTF">2026-07-03T07:59:04Z</dcterms:created>
  <dcterms:modified xsi:type="dcterms:W3CDTF">2026-07-05T12:28:16Z</dcterms:modified>
</cp:coreProperties>
</file>