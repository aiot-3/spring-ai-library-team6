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99E601-1626-4A89-A746-A109E1F64D6D}"/>
              </a:ext>
            </a:extLst>
          </p:cNvPr>
          <p:cNvSpPr>
            <a:spLocks noGrp="1"/>
          </p:cNvSpPr>
          <p:nvPr/>
        </p:nvSpPr>
        <p:spPr>
          <a:xfrm>
            <a:off x="6903720" y="365760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CA0179A-3B19-4CD2-8C2D-0955E2F3B947}"/>
              </a:ext>
            </a:extLst>
          </p:cNvPr>
          <p:cNvSpPr>
            <a:spLocks noGrp="1"/>
          </p:cNvSpPr>
          <p:nvPr/>
        </p:nvSpPr>
        <p:spPr>
          <a:xfrm>
            <a:off x="7141464" y="365760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F00D807-4E7B-436B-B3B4-1E9FD2C41028}"/>
              </a:ext>
            </a:extLst>
          </p:cNvPr>
          <p:cNvSpPr>
            <a:spLocks noGrp="1"/>
          </p:cNvSpPr>
          <p:nvPr/>
        </p:nvSpPr>
        <p:spPr>
          <a:xfrm>
            <a:off x="7379208" y="365760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9FF0043-CE5E-4061-8700-66A3FC82F219}"/>
              </a:ext>
            </a:extLst>
          </p:cNvPr>
          <p:cNvSpPr>
            <a:spLocks noGrp="1"/>
          </p:cNvSpPr>
          <p:nvPr/>
        </p:nvSpPr>
        <p:spPr>
          <a:xfrm>
            <a:off x="7616952" y="365760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10CCF1D-EC83-4F5F-B9B2-4F0FE43C3831}"/>
              </a:ext>
            </a:extLst>
          </p:cNvPr>
          <p:cNvSpPr>
            <a:spLocks noGrp="1"/>
          </p:cNvSpPr>
          <p:nvPr/>
        </p:nvSpPr>
        <p:spPr>
          <a:xfrm>
            <a:off x="7854696" y="365760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2C1F326-A990-4B91-83C7-C89C54294AD9}"/>
              </a:ext>
            </a:extLst>
          </p:cNvPr>
          <p:cNvSpPr>
            <a:spLocks noGrp="1"/>
          </p:cNvSpPr>
          <p:nvPr/>
        </p:nvSpPr>
        <p:spPr>
          <a:xfrm>
            <a:off x="8092440" y="365760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BF34FBC-73C6-4E37-B361-E68E22330AFD}"/>
              </a:ext>
            </a:extLst>
          </p:cNvPr>
          <p:cNvSpPr>
            <a:spLocks noGrp="1"/>
          </p:cNvSpPr>
          <p:nvPr/>
        </p:nvSpPr>
        <p:spPr>
          <a:xfrm>
            <a:off x="8330184" y="365760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01BE19F-7B8A-412E-BB0B-B9AD6AE246C7}"/>
              </a:ext>
            </a:extLst>
          </p:cNvPr>
          <p:cNvSpPr>
            <a:spLocks noGrp="1"/>
          </p:cNvSpPr>
          <p:nvPr/>
        </p:nvSpPr>
        <p:spPr>
          <a:xfrm>
            <a:off x="8567928" y="365760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0094034-0AB5-4782-A84A-D84C8F36B30C}"/>
              </a:ext>
            </a:extLst>
          </p:cNvPr>
          <p:cNvSpPr>
            <a:spLocks noGrp="1"/>
          </p:cNvSpPr>
          <p:nvPr/>
        </p:nvSpPr>
        <p:spPr>
          <a:xfrm>
            <a:off x="8805672" y="365760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2191716-70B4-4B34-A03B-8816E426487C}"/>
              </a:ext>
            </a:extLst>
          </p:cNvPr>
          <p:cNvSpPr>
            <a:spLocks noGrp="1"/>
          </p:cNvSpPr>
          <p:nvPr/>
        </p:nvSpPr>
        <p:spPr>
          <a:xfrm>
            <a:off x="6903720" y="603504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D343389-27EF-47DD-B1CA-B36C13FCF913}"/>
              </a:ext>
            </a:extLst>
          </p:cNvPr>
          <p:cNvSpPr>
            <a:spLocks noGrp="1"/>
          </p:cNvSpPr>
          <p:nvPr/>
        </p:nvSpPr>
        <p:spPr>
          <a:xfrm>
            <a:off x="7141464" y="603504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9389B46-88A1-44ED-BB40-9F3C313DA7DE}"/>
              </a:ext>
            </a:extLst>
          </p:cNvPr>
          <p:cNvSpPr>
            <a:spLocks noGrp="1"/>
          </p:cNvSpPr>
          <p:nvPr/>
        </p:nvSpPr>
        <p:spPr>
          <a:xfrm>
            <a:off x="7379208" y="603504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A2E48F0-8901-4550-823E-A7CB9726CA01}"/>
              </a:ext>
            </a:extLst>
          </p:cNvPr>
          <p:cNvSpPr>
            <a:spLocks noGrp="1"/>
          </p:cNvSpPr>
          <p:nvPr/>
        </p:nvSpPr>
        <p:spPr>
          <a:xfrm>
            <a:off x="7616952" y="603504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1DF39C7-DA39-43D9-822D-B40A65AA7D11}"/>
              </a:ext>
            </a:extLst>
          </p:cNvPr>
          <p:cNvSpPr>
            <a:spLocks noGrp="1"/>
          </p:cNvSpPr>
          <p:nvPr/>
        </p:nvSpPr>
        <p:spPr>
          <a:xfrm>
            <a:off x="7854696" y="603504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2BF1124-0DC6-4A58-94B0-FB57E9215B19}"/>
              </a:ext>
            </a:extLst>
          </p:cNvPr>
          <p:cNvSpPr>
            <a:spLocks noGrp="1"/>
          </p:cNvSpPr>
          <p:nvPr/>
        </p:nvSpPr>
        <p:spPr>
          <a:xfrm>
            <a:off x="8092440" y="603504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3D125EE-384F-4796-8AEC-1430AAD5D32B}"/>
              </a:ext>
            </a:extLst>
          </p:cNvPr>
          <p:cNvSpPr>
            <a:spLocks noGrp="1"/>
          </p:cNvSpPr>
          <p:nvPr/>
        </p:nvSpPr>
        <p:spPr>
          <a:xfrm>
            <a:off x="8330184" y="603504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8BCA69B-41E2-4EC7-B5AB-19E8B2B8EF37}"/>
              </a:ext>
            </a:extLst>
          </p:cNvPr>
          <p:cNvSpPr>
            <a:spLocks noGrp="1"/>
          </p:cNvSpPr>
          <p:nvPr/>
        </p:nvSpPr>
        <p:spPr>
          <a:xfrm>
            <a:off x="8567928" y="603504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2EADD41-6C6F-4583-ABAA-E6A46D95CEBC}"/>
              </a:ext>
            </a:extLst>
          </p:cNvPr>
          <p:cNvSpPr>
            <a:spLocks noGrp="1"/>
          </p:cNvSpPr>
          <p:nvPr/>
        </p:nvSpPr>
        <p:spPr>
          <a:xfrm>
            <a:off x="8805672" y="603504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C62AA89-E02F-485D-BEFC-0DAF0970CB84}"/>
              </a:ext>
            </a:extLst>
          </p:cNvPr>
          <p:cNvSpPr>
            <a:spLocks noGrp="1"/>
          </p:cNvSpPr>
          <p:nvPr/>
        </p:nvSpPr>
        <p:spPr>
          <a:xfrm>
            <a:off x="6903720" y="841248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FF9931A-F916-433A-B953-16B5D24ECC55}"/>
              </a:ext>
            </a:extLst>
          </p:cNvPr>
          <p:cNvSpPr>
            <a:spLocks noGrp="1"/>
          </p:cNvSpPr>
          <p:nvPr/>
        </p:nvSpPr>
        <p:spPr>
          <a:xfrm>
            <a:off x="7141464" y="841248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2CD0328-8BA7-4F10-9FE1-E1A8F845EA16}"/>
              </a:ext>
            </a:extLst>
          </p:cNvPr>
          <p:cNvSpPr>
            <a:spLocks noGrp="1"/>
          </p:cNvSpPr>
          <p:nvPr/>
        </p:nvSpPr>
        <p:spPr>
          <a:xfrm>
            <a:off x="7379208" y="841248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F3BA14D-DCE3-43AB-8D97-CC4BB22BC07F}"/>
              </a:ext>
            </a:extLst>
          </p:cNvPr>
          <p:cNvSpPr>
            <a:spLocks noGrp="1"/>
          </p:cNvSpPr>
          <p:nvPr/>
        </p:nvSpPr>
        <p:spPr>
          <a:xfrm>
            <a:off x="7616952" y="841248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20EF596-642F-4293-B9F3-8CD9BC783DE0}"/>
              </a:ext>
            </a:extLst>
          </p:cNvPr>
          <p:cNvSpPr>
            <a:spLocks noGrp="1"/>
          </p:cNvSpPr>
          <p:nvPr/>
        </p:nvSpPr>
        <p:spPr>
          <a:xfrm>
            <a:off x="7854696" y="841248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8DBD5BC-ED18-4CE3-A580-CEFF79CB3031}"/>
              </a:ext>
            </a:extLst>
          </p:cNvPr>
          <p:cNvSpPr>
            <a:spLocks noGrp="1"/>
          </p:cNvSpPr>
          <p:nvPr/>
        </p:nvSpPr>
        <p:spPr>
          <a:xfrm>
            <a:off x="8092440" y="841248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1325E1C-B5B7-46B3-A206-9D418E2FC4CE}"/>
              </a:ext>
            </a:extLst>
          </p:cNvPr>
          <p:cNvSpPr>
            <a:spLocks noGrp="1"/>
          </p:cNvSpPr>
          <p:nvPr/>
        </p:nvSpPr>
        <p:spPr>
          <a:xfrm>
            <a:off x="8330184" y="841248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58E06D4-ABDE-4EB3-B0DF-DEC617838BAC}"/>
              </a:ext>
            </a:extLst>
          </p:cNvPr>
          <p:cNvSpPr>
            <a:spLocks noGrp="1"/>
          </p:cNvSpPr>
          <p:nvPr/>
        </p:nvSpPr>
        <p:spPr>
          <a:xfrm>
            <a:off x="8567928" y="841248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835E72D-E3D3-4A5D-BA88-F634D64A6CEC}"/>
              </a:ext>
            </a:extLst>
          </p:cNvPr>
          <p:cNvSpPr>
            <a:spLocks noGrp="1"/>
          </p:cNvSpPr>
          <p:nvPr/>
        </p:nvSpPr>
        <p:spPr>
          <a:xfrm>
            <a:off x="8805672" y="841248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C9FEC46-8763-496B-9839-8827850C466E}"/>
              </a:ext>
            </a:extLst>
          </p:cNvPr>
          <p:cNvSpPr>
            <a:spLocks noGrp="1"/>
          </p:cNvSpPr>
          <p:nvPr/>
        </p:nvSpPr>
        <p:spPr>
          <a:xfrm>
            <a:off x="6903720" y="1078992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C0FAB1C-29D0-43A2-9A32-5DE09B5FECC2}"/>
              </a:ext>
            </a:extLst>
          </p:cNvPr>
          <p:cNvSpPr>
            <a:spLocks noGrp="1"/>
          </p:cNvSpPr>
          <p:nvPr/>
        </p:nvSpPr>
        <p:spPr>
          <a:xfrm>
            <a:off x="7141464" y="1078992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B7755BA-CA1E-407C-AB0C-172C6EFD496E}"/>
              </a:ext>
            </a:extLst>
          </p:cNvPr>
          <p:cNvSpPr>
            <a:spLocks noGrp="1"/>
          </p:cNvSpPr>
          <p:nvPr/>
        </p:nvSpPr>
        <p:spPr>
          <a:xfrm>
            <a:off x="7379208" y="1078992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91FEC1E-9345-4DA5-8AD0-4BE58FFAC237}"/>
              </a:ext>
            </a:extLst>
          </p:cNvPr>
          <p:cNvSpPr>
            <a:spLocks noGrp="1"/>
          </p:cNvSpPr>
          <p:nvPr/>
        </p:nvSpPr>
        <p:spPr>
          <a:xfrm>
            <a:off x="7616952" y="1078992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E744E05-2A2F-49AA-9118-B35F4F1D2EEB}"/>
              </a:ext>
            </a:extLst>
          </p:cNvPr>
          <p:cNvSpPr>
            <a:spLocks noGrp="1"/>
          </p:cNvSpPr>
          <p:nvPr/>
        </p:nvSpPr>
        <p:spPr>
          <a:xfrm>
            <a:off x="7854696" y="1078992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275ABF33-6F95-4B10-8342-E6A5D9477EE4}"/>
              </a:ext>
            </a:extLst>
          </p:cNvPr>
          <p:cNvSpPr>
            <a:spLocks noGrp="1"/>
          </p:cNvSpPr>
          <p:nvPr/>
        </p:nvSpPr>
        <p:spPr>
          <a:xfrm>
            <a:off x="8092440" y="1078992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6FC36ECB-F272-4AF7-8475-708E8A6D1DF4}"/>
              </a:ext>
            </a:extLst>
          </p:cNvPr>
          <p:cNvSpPr>
            <a:spLocks noGrp="1"/>
          </p:cNvSpPr>
          <p:nvPr/>
        </p:nvSpPr>
        <p:spPr>
          <a:xfrm>
            <a:off x="8330184" y="1078992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63E746AF-F666-48C7-B3AE-13B23CEBED22}"/>
              </a:ext>
            </a:extLst>
          </p:cNvPr>
          <p:cNvSpPr>
            <a:spLocks noGrp="1"/>
          </p:cNvSpPr>
          <p:nvPr/>
        </p:nvSpPr>
        <p:spPr>
          <a:xfrm>
            <a:off x="8567928" y="1078992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9E05E3DC-1CED-409A-9CCE-BB4AB246A15E}"/>
              </a:ext>
            </a:extLst>
          </p:cNvPr>
          <p:cNvSpPr>
            <a:spLocks noGrp="1"/>
          </p:cNvSpPr>
          <p:nvPr/>
        </p:nvSpPr>
        <p:spPr>
          <a:xfrm>
            <a:off x="8805672" y="1078992"/>
            <a:ext cx="45720" cy="45720"/>
          </a:xfrm>
          <a:prstGeom prst="ellipse">
            <a:avLst/>
          </a:prstGeom>
          <a:solidFill>
            <a:srgbClr val="35507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926E89F-C06B-4E4A-AD03-5C3FB46714EF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NHN 아카데미</a:t>
            </a: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F613CC6-1B6E-4CC0-AD58-52427C8F2EF3}"/>
              </a:ext>
            </a:extLst>
          </p:cNvPr>
          <p:cNvSpPr>
            <a:spLocks noGrp="1"/>
          </p:cNvSpPr>
          <p:nvPr/>
        </p:nvSpPr>
        <p:spPr>
          <a:xfrm>
            <a:off x="457200" y="8412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9FB0C6"/>
                </a:solidFill>
                <a:latin typeface="Malgun Gothic"/>
                <a:ea typeface="Malgun Gothic"/>
                <a:cs typeface="Malgun Gothic"/>
              </a:rPr>
              <a:t>KDT 3기  ·  Spring AI 프로젝트</a:t>
            </a: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D2259378-6D65-4F09-8DDA-5B5269D940EE}"/>
              </a:ext>
            </a:extLst>
          </p:cNvPr>
          <p:cNvSpPr>
            <a:spLocks noGrp="1"/>
          </p:cNvSpPr>
          <p:nvPr/>
        </p:nvSpPr>
        <p:spPr>
          <a:xfrm>
            <a:off x="457200" y="184708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Spring AI Library</a:t>
            </a: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F21FDBC-FD7D-42CF-80FD-79331AFE531D}"/>
              </a:ext>
            </a:extLst>
          </p:cNvPr>
          <p:cNvSpPr>
            <a:spLocks noGrp="1"/>
          </p:cNvSpPr>
          <p:nvPr/>
        </p:nvSpPr>
        <p:spPr>
          <a:xfrm>
            <a:off x="457200" y="2724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>
                <a:solidFill>
                  <a:srgbClr val="CFE9E6"/>
                </a:solidFill>
                <a:latin typeface="Malgun Gothic"/>
                <a:ea typeface="Malgun Gothic"/>
                <a:cs typeface="Malgun Gothic"/>
              </a:rPr>
              <a:t>자연어 기반 도서 검색·추천 시스템</a:t>
            </a: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8D7660F3-6FCA-4881-9B12-4279294F5847}"/>
              </a:ext>
            </a:extLst>
          </p:cNvPr>
          <p:cNvSpPr>
            <a:spLocks noGrp="1"/>
          </p:cNvSpPr>
          <p:nvPr/>
        </p:nvSpPr>
        <p:spPr>
          <a:xfrm>
            <a:off x="457200" y="3429000"/>
            <a:ext cx="29260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8A84034A-536F-4AC5-A4A1-2B652821E85F}"/>
              </a:ext>
            </a:extLst>
          </p:cNvPr>
          <p:cNvSpPr>
            <a:spLocks noGrp="1"/>
          </p:cNvSpPr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RAG 파이프라인  ·  Function Calling  ·  외부 도서 API</a:t>
            </a: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9260B2F0-C9B5-4385-A9BE-95EE5B42AA1D}"/>
              </a:ext>
            </a:extLst>
          </p:cNvPr>
          <p:cNvSpPr>
            <a:spLocks noGrp="1"/>
          </p:cNvSpPr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8FA2BA"/>
                </a:solidFill>
                <a:latin typeface="Malgun Gothic"/>
                <a:ea typeface="Malgun Gothic"/>
                <a:cs typeface="Malgun Gothic"/>
              </a:rPr>
              <a:t>담당  박현준   ·   RAG·LLM 파트</a:t>
            </a: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62B0A1A7-84F1-4E29-BA42-6B8E4C9996C8}"/>
              </a:ext>
            </a:extLst>
          </p:cNvPr>
          <p:cNvSpPr>
            <a:spLocks noGrp="1"/>
          </p:cNvSpPr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452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937F215-19C8-4CC9-885F-98C7B4C85884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D9488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E628FA9-86E6-4811-83F5-42D9A53919EE}"/>
              </a:ext>
            </a:extLst>
          </p:cNvPr>
          <p:cNvSpPr>
            <a:spLocks noGrp="1"/>
          </p:cNvSpPr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6220D52-93E3-4121-8FF1-829915153B1D}"/>
              </a:ext>
            </a:extLst>
          </p:cNvPr>
          <p:cNvSpPr>
            <a:spLocks noGrp="1"/>
          </p:cNvSpPr>
          <p:nvPr/>
        </p:nvSpPr>
        <p:spPr>
          <a:xfrm>
            <a:off x="457200" y="1271016"/>
            <a:ext cx="9144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C4D0D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600281B-8CBE-4320-BD6F-0087EF18112F}"/>
              </a:ext>
            </a:extLst>
          </p:cNvPr>
          <p:cNvSpPr>
            <a:spLocks noGrp="1"/>
          </p:cNvSpPr>
          <p:nvPr/>
        </p:nvSpPr>
        <p:spPr>
          <a:xfrm>
            <a:off x="1463040" y="1325880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38A4A7-C0D6-4FA7-B6D0-F0F2340C1A6D}"/>
              </a:ext>
            </a:extLst>
          </p:cNvPr>
          <p:cNvSpPr>
            <a:spLocks noGrp="1"/>
          </p:cNvSpPr>
          <p:nvPr/>
        </p:nvSpPr>
        <p:spPr>
          <a:xfrm>
            <a:off x="1463040" y="167335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5B6B7F"/>
                </a:solidFill>
                <a:latin typeface="Malgun Gothic"/>
                <a:ea typeface="Malgun Gothic"/>
                <a:cs typeface="Malgun Gothic"/>
              </a:rPr>
              <a:t>주제·기술 스택·구조·기대 효과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021AFB1-CC66-4CD3-BF4C-4CB25AD14C9B}"/>
              </a:ext>
            </a:extLst>
          </p:cNvPr>
          <p:cNvSpPr>
            <a:spLocks noGrp="1"/>
          </p:cNvSpPr>
          <p:nvPr/>
        </p:nvSpPr>
        <p:spPr>
          <a:xfrm>
            <a:off x="457200" y="1984248"/>
            <a:ext cx="9144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C4D0D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1104CC4-3ADC-40D2-B850-10DE2211CDF4}"/>
              </a:ext>
            </a:extLst>
          </p:cNvPr>
          <p:cNvSpPr>
            <a:spLocks noGrp="1"/>
          </p:cNvSpPr>
          <p:nvPr/>
        </p:nvSpPr>
        <p:spPr>
          <a:xfrm>
            <a:off x="1463040" y="2039112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팀 구성 및 역할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47F8E9E-0A11-4BAB-A401-F1E7F68A8D1C}"/>
              </a:ext>
            </a:extLst>
          </p:cNvPr>
          <p:cNvSpPr>
            <a:spLocks noGrp="1"/>
          </p:cNvSpPr>
          <p:nvPr/>
        </p:nvSpPr>
        <p:spPr>
          <a:xfrm>
            <a:off x="1463040" y="238658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5B6B7F"/>
                </a:solidFill>
                <a:latin typeface="Malgun Gothic"/>
                <a:ea typeface="Malgun Gothic"/>
                <a:cs typeface="Malgun Gothic"/>
              </a:rPr>
              <a:t>도메인 분담 (담당: ② RAG·LLM)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4B2D67F-9734-4B3D-AB92-9C45BC38B6F9}"/>
              </a:ext>
            </a:extLst>
          </p:cNvPr>
          <p:cNvSpPr>
            <a:spLocks noGrp="1"/>
          </p:cNvSpPr>
          <p:nvPr/>
        </p:nvSpPr>
        <p:spPr>
          <a:xfrm>
            <a:off x="457200" y="2697480"/>
            <a:ext cx="9144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C4D0D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67BDAD2-CFFA-49BD-8A1B-D3500C7D90F5}"/>
              </a:ext>
            </a:extLst>
          </p:cNvPr>
          <p:cNvSpPr>
            <a:spLocks noGrp="1"/>
          </p:cNvSpPr>
          <p:nvPr/>
        </p:nvSpPr>
        <p:spPr>
          <a:xfrm>
            <a:off x="1463040" y="2752344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수행 절차 및 방법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21A0291-45DF-48FD-9908-4BD3B252BC7E}"/>
              </a:ext>
            </a:extLst>
          </p:cNvPr>
          <p:cNvSpPr>
            <a:spLocks noGrp="1"/>
          </p:cNvSpPr>
          <p:nvPr/>
        </p:nvSpPr>
        <p:spPr>
          <a:xfrm>
            <a:off x="1463040" y="309981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5B6B7F"/>
                </a:solidFill>
                <a:latin typeface="Malgun Gothic"/>
                <a:ea typeface="Malgun Gothic"/>
                <a:cs typeface="Malgun Gothic"/>
              </a:rPr>
              <a:t>설계 → 구현 → 통합 단계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42B2BBB-D732-40BC-BEF7-FF064D6CD497}"/>
              </a:ext>
            </a:extLst>
          </p:cNvPr>
          <p:cNvSpPr>
            <a:spLocks noGrp="1"/>
          </p:cNvSpPr>
          <p:nvPr/>
        </p:nvSpPr>
        <p:spPr>
          <a:xfrm>
            <a:off x="457200" y="3410712"/>
            <a:ext cx="9144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D948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E02FE6E-8B7D-4CD3-9A79-168FB0A522A1}"/>
              </a:ext>
            </a:extLst>
          </p:cNvPr>
          <p:cNvSpPr>
            <a:spLocks noGrp="1"/>
          </p:cNvSpPr>
          <p:nvPr/>
        </p:nvSpPr>
        <p:spPr>
          <a:xfrm>
            <a:off x="1463040" y="3465576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수행 경과 (담당 파트)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5AF4355-6FC8-40BE-87C9-A45C6A649141}"/>
              </a:ext>
            </a:extLst>
          </p:cNvPr>
          <p:cNvSpPr>
            <a:spLocks noGrp="1"/>
          </p:cNvSpPr>
          <p:nvPr/>
        </p:nvSpPr>
        <p:spPr>
          <a:xfrm>
            <a:off x="1463040" y="3813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5B6B7F"/>
                </a:solidFill>
                <a:latin typeface="Malgun Gothic"/>
                <a:ea typeface="Malgun Gothic"/>
                <a:cs typeface="Malgun Gothic"/>
              </a:rPr>
              <a:t>RAG 파이프라인 · Function Calling · 외부 도서 API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C396DFFB-A540-42C9-93FA-C199B1BA54F2}"/>
              </a:ext>
            </a:extLst>
          </p:cNvPr>
          <p:cNvSpPr>
            <a:spLocks noGrp="1"/>
          </p:cNvSpPr>
          <p:nvPr/>
        </p:nvSpPr>
        <p:spPr>
          <a:xfrm>
            <a:off x="457200" y="4123944"/>
            <a:ext cx="9144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C4D0D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FAA0CD5-F718-4A2E-BA96-BBC2E4515BE6}"/>
              </a:ext>
            </a:extLst>
          </p:cNvPr>
          <p:cNvSpPr>
            <a:spLocks noGrp="1"/>
          </p:cNvSpPr>
          <p:nvPr/>
        </p:nvSpPr>
        <p:spPr>
          <a:xfrm>
            <a:off x="1463040" y="4178808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사후 평가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BE1BBA0-48C6-4CC9-B1E1-50B55819C587}"/>
              </a:ext>
            </a:extLst>
          </p:cNvPr>
          <p:cNvSpPr>
            <a:spLocks noGrp="1"/>
          </p:cNvSpPr>
          <p:nvPr/>
        </p:nvSpPr>
        <p:spPr>
          <a:xfrm>
            <a:off x="1463040" y="452628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5B6B7F"/>
                </a:solidFill>
                <a:latin typeface="Malgun Gothic"/>
                <a:ea typeface="Malgun Gothic"/>
                <a:cs typeface="Malgun Gothic"/>
              </a:rPr>
              <a:t>성과와 한계</a:t>
            </a:r>
          </a:p>
        </p:txBody>
      </p:sp>
    </p:spTree>
    <p:extLst>
      <p:ext uri="{BB962C8B-B14F-4D97-AF65-F5344CB8AC3E}">
        <p14:creationId xmlns:p14="http://schemas.microsoft.com/office/powerpoint/2010/main" val="1064638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923841-8F60-42B5-B526-8D54F0BBD410}"/>
              </a:ext>
            </a:extLst>
          </p:cNvPr>
          <p:cNvSpPr>
            <a:spLocks noGrp="1"/>
          </p:cNvSpPr>
          <p:nvPr/>
        </p:nvSpPr>
        <p:spPr>
          <a:xfrm>
            <a:off x="457200" y="310896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13047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E93835-A081-4765-B6E5-EF0996B42224}"/>
              </a:ext>
            </a:extLst>
          </p:cNvPr>
          <p:cNvSpPr>
            <a:spLocks noGrp="1"/>
          </p:cNvSpPr>
          <p:nvPr/>
        </p:nvSpPr>
        <p:spPr>
          <a:xfrm>
            <a:off x="457200" y="31089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775DBC8-50AF-4A2F-B12E-E90E1A7ACA1D}"/>
              </a:ext>
            </a:extLst>
          </p:cNvPr>
          <p:cNvSpPr>
            <a:spLocks noGrp="1"/>
          </p:cNvSpPr>
          <p:nvPr/>
        </p:nvSpPr>
        <p:spPr>
          <a:xfrm>
            <a:off x="1280160" y="310896"/>
            <a:ext cx="74066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D9FA56-BAE5-4651-9E41-CE0E900D6D13}"/>
              </a:ext>
            </a:extLst>
          </p:cNvPr>
          <p:cNvSpPr>
            <a:spLocks noGrp="1"/>
          </p:cNvSpPr>
          <p:nvPr/>
        </p:nvSpPr>
        <p:spPr>
          <a:xfrm>
            <a:off x="1280160" y="722376"/>
            <a:ext cx="7406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E8BF23F-0679-4F0D-967A-E5CDDE97D6D0}"/>
              </a:ext>
            </a:extLst>
          </p:cNvPr>
          <p:cNvSpPr>
            <a:spLocks noGrp="1"/>
          </p:cNvSpPr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907C675-EE1D-461E-973B-2B12FA3F9CEE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3977640" cy="1298448"/>
          </a:xfrm>
          <a:prstGeom prst="roundRect">
            <a:avLst>
              <a:gd name="adj" fmla="val 4930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BBD6EAB-FB10-4F0B-B216-B9BBB7ECAD8C}"/>
              </a:ext>
            </a:extLst>
          </p:cNvPr>
          <p:cNvSpPr>
            <a:spLocks noGrp="1"/>
          </p:cNvSpPr>
          <p:nvPr/>
        </p:nvSpPr>
        <p:spPr>
          <a:xfrm>
            <a:off x="658368" y="1426464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주제 및 선정 배경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11D3D08-B70A-4642-ABDD-0BF9B231A96F}"/>
              </a:ext>
            </a:extLst>
          </p:cNvPr>
          <p:cNvSpPr>
            <a:spLocks noGrp="1"/>
          </p:cNvSpPr>
          <p:nvPr/>
        </p:nvSpPr>
        <p:spPr>
          <a:xfrm>
            <a:off x="658368" y="1755648"/>
            <a:ext cx="357530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2000"/>
              </a:lnSpc>
              <a:buNone/>
            </a:pPr>
            <a:r>
              <a:rPr sz="100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Spring AI를 활용해 자연어 질문으로 도서를 찾는 도서관 애플리케이션. </a:t>
            </a:r>
          </a:p>
          <a:p>
            <a:pPr>
              <a:lnSpc>
                <a:spcPct val="102000"/>
              </a:lnSpc>
              <a:buNone/>
            </a:pPr>
            <a:r>
              <a:rPr sz="100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단순 키워드 매칭을 넘어 의미 기반 검색(임베딩)과 LLM 추천(RAG)을 결합한다.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484C9F4-B397-4376-8D46-7A86407AB4BE}"/>
              </a:ext>
            </a:extLst>
          </p:cNvPr>
          <p:cNvSpPr>
            <a:spLocks noGrp="1"/>
          </p:cNvSpPr>
          <p:nvPr/>
        </p:nvSpPr>
        <p:spPr>
          <a:xfrm>
            <a:off x="4709160" y="1298448"/>
            <a:ext cx="3977640" cy="1298448"/>
          </a:xfrm>
          <a:prstGeom prst="roundRect">
            <a:avLst>
              <a:gd name="adj" fmla="val 4930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11BDBD6-4EBA-40B3-8FAA-95AE2ACDE260}"/>
              </a:ext>
            </a:extLst>
          </p:cNvPr>
          <p:cNvSpPr>
            <a:spLocks noGrp="1"/>
          </p:cNvSpPr>
          <p:nvPr/>
        </p:nvSpPr>
        <p:spPr>
          <a:xfrm>
            <a:off x="4910328" y="1426464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프로젝트 내용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CE632EB-9DFB-4608-B079-FE1E45C76801}"/>
              </a:ext>
            </a:extLst>
          </p:cNvPr>
          <p:cNvSpPr>
            <a:spLocks noGrp="1"/>
          </p:cNvSpPr>
          <p:nvPr/>
        </p:nvSpPr>
        <p:spPr>
          <a:xfrm>
            <a:off x="4910328" y="1755648"/>
            <a:ext cx="357530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02000"/>
              </a:lnSpc>
              <a:buNone/>
            </a:pPr>
            <a:r>
              <a:rPr sz="102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하이브리드 검색(시맨틱+키워드, RRF 융합) · RAG 도서 추천 · ContextBuilder · 프롬프트 설계 · ChatModel 응답 생성 · Function Calling · 외부 도서 API 연동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017AAE7-A7CB-4F88-A639-EF4008899C68}"/>
              </a:ext>
            </a:extLst>
          </p:cNvPr>
          <p:cNvSpPr>
            <a:spLocks noGrp="1"/>
          </p:cNvSpPr>
          <p:nvPr/>
        </p:nvSpPr>
        <p:spPr>
          <a:xfrm>
            <a:off x="457200" y="2798064"/>
            <a:ext cx="3977640" cy="1298448"/>
          </a:xfrm>
          <a:prstGeom prst="roundRect">
            <a:avLst>
              <a:gd name="adj" fmla="val 4930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4691FDC-3697-4B80-8B26-4F313FD4E292}"/>
              </a:ext>
            </a:extLst>
          </p:cNvPr>
          <p:cNvSpPr>
            <a:spLocks noGrp="1"/>
          </p:cNvSpPr>
          <p:nvPr/>
        </p:nvSpPr>
        <p:spPr>
          <a:xfrm>
            <a:off x="658368" y="2926080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활용 장비 및 재료 (기술 스택)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8584E13-D130-45D2-8D59-14D91C34B677}"/>
              </a:ext>
            </a:extLst>
          </p:cNvPr>
          <p:cNvSpPr>
            <a:spLocks noGrp="1"/>
          </p:cNvSpPr>
          <p:nvPr/>
        </p:nvSpPr>
        <p:spPr>
          <a:xfrm>
            <a:off x="658368" y="3255264"/>
            <a:ext cx="357530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2000"/>
              </a:lnSpc>
              <a:buNone/>
            </a:pPr>
            <a:r>
              <a:rPr sz="100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Java 21 · Spring Boot · Spring AI </a:t>
            </a:r>
          </a:p>
          <a:p>
            <a:pPr>
              <a:lnSpc>
                <a:spcPct val="102000"/>
              </a:lnSpc>
              <a:buNone/>
            </a:pPr>
            <a:r>
              <a:rPr sz="100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/ LLM: Ollama qwen3.5:9b(chat), bge-m3</a:t>
            </a:r>
          </a:p>
          <a:p>
            <a:pPr>
              <a:lnSpc>
                <a:spcPct val="102000"/>
              </a:lnSpc>
              <a:buNone/>
            </a:pPr>
            <a:r>
              <a:rPr sz="100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/ DB: PostgreSQL + pgvector / 메시징: RabbitMQ </a:t>
            </a:r>
          </a:p>
          <a:p>
            <a:pPr>
              <a:lnSpc>
                <a:spcPct val="102000"/>
              </a:lnSpc>
              <a:buNone/>
            </a:pPr>
            <a:r>
              <a:rPr sz="100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/ 캐시: Redis·pgvector / 조회: QueryDSL / 뷰: Thymeleaf </a:t>
            </a:r>
          </a:p>
          <a:p>
            <a:pPr>
              <a:lnSpc>
                <a:spcPct val="102000"/>
              </a:lnSpc>
              <a:buNone/>
            </a:pPr>
            <a:r>
              <a:rPr sz="100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/ 봇: Telegram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B2369D8-C169-43A0-A5F1-729F0322CA5D}"/>
              </a:ext>
            </a:extLst>
          </p:cNvPr>
          <p:cNvSpPr>
            <a:spLocks noGrp="1"/>
          </p:cNvSpPr>
          <p:nvPr/>
        </p:nvSpPr>
        <p:spPr>
          <a:xfrm>
            <a:off x="4709160" y="2798064"/>
            <a:ext cx="3977640" cy="1298448"/>
          </a:xfrm>
          <a:prstGeom prst="roundRect">
            <a:avLst>
              <a:gd name="adj" fmla="val 4930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F5360F9-1BC0-4951-A0EC-C0A065781B4A}"/>
              </a:ext>
            </a:extLst>
          </p:cNvPr>
          <p:cNvSpPr>
            <a:spLocks noGrp="1"/>
          </p:cNvSpPr>
          <p:nvPr/>
        </p:nvSpPr>
        <p:spPr>
          <a:xfrm>
            <a:off x="4910328" y="2926080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프로젝트 구조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9CFFB7F-0A7E-4FA6-B47A-F960FE9690DB}"/>
              </a:ext>
            </a:extLst>
          </p:cNvPr>
          <p:cNvSpPr>
            <a:spLocks noGrp="1"/>
          </p:cNvSpPr>
          <p:nvPr/>
        </p:nvSpPr>
        <p:spPr>
          <a:xfrm>
            <a:off x="4910328" y="3255264"/>
            <a:ext cx="357530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2000"/>
              </a:lnSpc>
              <a:buNone/>
            </a:pPr>
            <a:r>
              <a:rPr sz="100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feature-first 패키지 + DDD 레이어링(presentation·application·domain·infrastructure). </a:t>
            </a:r>
          </a:p>
          <a:p>
            <a:pPr marL="0" indent="0">
              <a:lnSpc>
                <a:spcPct val="102000"/>
              </a:lnSpc>
              <a:buNone/>
            </a:pPr>
            <a:r>
              <a:rPr sz="100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도메인: search · rag · review · cache · personalization · book · feedback · telegram · ai(agent)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C97A682-4476-433D-94CD-C07D70E05C30}"/>
              </a:ext>
            </a:extLst>
          </p:cNvPr>
          <p:cNvSpPr>
            <a:spLocks noGrp="1"/>
          </p:cNvSpPr>
          <p:nvPr/>
        </p:nvSpPr>
        <p:spPr>
          <a:xfrm>
            <a:off x="457200" y="4297680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213047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43BA8E7-FFE2-417C-98AC-93C4EAEDC4B1}"/>
              </a:ext>
            </a:extLst>
          </p:cNvPr>
          <p:cNvSpPr>
            <a:spLocks noGrp="1"/>
          </p:cNvSpPr>
          <p:nvPr/>
        </p:nvSpPr>
        <p:spPr>
          <a:xfrm>
            <a:off x="658368" y="4297680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98000"/>
              </a:lnSpc>
              <a:buNone/>
            </a:pPr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기대 효과   검색 결과를 LLM이 활용 가능한 컨텍스트로 정제하고, 도구 호출 기반 에이전트로 추천·상세조회·외부 정보 보강까지 자연어 흐름에서 처리한다.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63F74DA-DC52-4CAB-91FE-9670705114DE}"/>
              </a:ext>
            </a:extLst>
          </p:cNvPr>
          <p:cNvSpPr>
            <a:spLocks noGrp="1"/>
          </p:cNvSpPr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>
                <a:solidFill>
                  <a:srgbClr val="9AA7B5"/>
                </a:solidFill>
                <a:latin typeface="Malgun Gothic"/>
                <a:ea typeface="Malgun Gothic"/>
                <a:cs typeface="Malgun Gothic"/>
              </a:rPr>
              <a:t>Spring AI Library  ·  RAG·LLM 파트 보고서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1F4895A-3984-4E48-AFF4-7CCFE5751093}"/>
              </a:ext>
            </a:extLst>
          </p:cNvPr>
          <p:cNvSpPr>
            <a:spLocks noGrp="1"/>
          </p:cNvSpPr>
          <p:nvPr/>
        </p:nvSpPr>
        <p:spPr>
          <a:xfrm>
            <a:off x="8138160" y="485089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50">
                <a:solidFill>
                  <a:srgbClr val="9AA7B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5677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08A3D87-64E6-48BE-BF5F-16A0E96DFD4B}"/>
              </a:ext>
            </a:extLst>
          </p:cNvPr>
          <p:cNvSpPr>
            <a:spLocks noGrp="1"/>
          </p:cNvSpPr>
          <p:nvPr/>
        </p:nvSpPr>
        <p:spPr>
          <a:xfrm>
            <a:off x="457200" y="310896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13047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ACD859-FD7D-4BA2-9A1B-B30B8A9199E9}"/>
              </a:ext>
            </a:extLst>
          </p:cNvPr>
          <p:cNvSpPr>
            <a:spLocks noGrp="1"/>
          </p:cNvSpPr>
          <p:nvPr/>
        </p:nvSpPr>
        <p:spPr>
          <a:xfrm>
            <a:off x="457200" y="31089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325789-082E-4F0F-950C-69C971CFDDF1}"/>
              </a:ext>
            </a:extLst>
          </p:cNvPr>
          <p:cNvSpPr>
            <a:spLocks noGrp="1"/>
          </p:cNvSpPr>
          <p:nvPr/>
        </p:nvSpPr>
        <p:spPr>
          <a:xfrm>
            <a:off x="1280160" y="310896"/>
            <a:ext cx="74066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팀 구성 및 역할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3E529E-BB1F-489C-96E8-3168500E50F9}"/>
              </a:ext>
            </a:extLst>
          </p:cNvPr>
          <p:cNvSpPr>
            <a:spLocks noGrp="1"/>
          </p:cNvSpPr>
          <p:nvPr/>
        </p:nvSpPr>
        <p:spPr>
          <a:xfrm>
            <a:off x="1280160" y="722376"/>
            <a:ext cx="7406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0D9488"/>
                </a:solidFill>
                <a:latin typeface="Malgun Gothic"/>
                <a:ea typeface="Malgun Gothic"/>
                <a:cs typeface="Malgun Gothic"/>
              </a:rPr>
              <a:t>▶  </a:t>
            </a:r>
            <a:r>
              <a:rPr sz="1150">
                <a:solidFill>
                  <a:srgbClr val="5B6B7F"/>
                </a:solidFill>
                <a:latin typeface="Malgun Gothic"/>
                <a:ea typeface="Malgun Gothic"/>
                <a:cs typeface="Malgun Gothic"/>
              </a:rPr>
              <a:t>도메인 단위로 4인 분담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AFA52FF-4043-4B55-914B-42084B796102}"/>
              </a:ext>
            </a:extLst>
          </p:cNvPr>
          <p:cNvSpPr>
            <a:spLocks noGrp="1"/>
          </p:cNvSpPr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7" name="Table 0"/>
          <p:cNvGraphicFramePr/>
          <p:nvPr/>
        </p:nvGraphicFramePr>
        <p:xfrm>
          <a:off x="457200" y="1298448"/>
          <a:ext cx="7772400" cy="2779776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  도메인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2130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소유 패키지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2130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작업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21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1">
                          <a:solidFill>
                            <a:srgbClr val="21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  검색 엔진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sz="900" b="1">
                          <a:solidFill>
                            <a:srgbClr val="21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염상헌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60">
                          <a:solidFill>
                            <a:srgbClr val="1F2A37"/>
                          </a:solidFill>
                          <a:latin typeface="Consolas"/>
                          <a:ea typeface="Consolas"/>
                          <a:cs typeface="Consolas"/>
                        </a:rPr>
                        <a:t>search.* , book.infrastructure.persistence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3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하이브리드 검색(시맨틱+키워드) 완성 · Top-K / RRF 최적화 · 개인화 재정렬 연동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30" b="1">
                          <a:solidFill>
                            <a:srgbClr val="21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  RAG · LLM  ★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sz="900" b="1">
                          <a:solidFill>
                            <a:srgbClr val="21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박현준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60">
                          <a:solidFill>
                            <a:srgbClr val="1F2A37"/>
                          </a:solidFill>
                          <a:latin typeface="Consolas"/>
                          <a:ea typeface="Consolas"/>
                          <a:cs typeface="Consolas"/>
                        </a:rPr>
                        <a:t>rag.* , ai.*(agent)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3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RAG 파이프라인(ContextBuilder·프롬프트·ChatModel) · Function Calling 오케스트레이션 · 외부 도서 API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7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30" b="1">
                          <a:solidFill>
                            <a:srgbClr val="0B7A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  성능 · 데이터</a:t>
                      </a:r>
                    </a:p>
                    <a:p>
                      <a:pPr marL="0" indent="0" algn="l">
                        <a:buNone/>
                      </a:pPr>
                      <a:r>
                        <a:rPr sz="860" b="1">
                          <a:solidFill>
                            <a:srgbClr val="0B7A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권세윤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60" b="1">
                          <a:solidFill>
                            <a:srgbClr val="0B7A70"/>
                          </a:solidFill>
                          <a:latin typeface="Consolas"/>
                          <a:ea typeface="Consolas"/>
                          <a:cs typeface="Consolas"/>
                        </a:rPr>
                        <a:t>review.* , cache.* , 메시징 설정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30">
                          <a:solidFill>
                            <a:srgbClr val="104A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시맨틱 캐싱(pgvector) · 리뷰 통계/AI 요약(RabbitMQ·@Async) · 리뷰→RAG 연동 · 리뷰 요약 파이프라인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1">
                          <a:solidFill>
                            <a:srgbClr val="21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  인터페이스 · 개인화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sz="900" b="1">
                          <a:solidFill>
                            <a:srgbClr val="21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박상민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60">
                          <a:solidFill>
                            <a:srgbClr val="1F2A37"/>
                          </a:solidFill>
                          <a:latin typeface="Consolas"/>
                          <a:ea typeface="Consolas"/>
                          <a:cs typeface="Consolas"/>
                        </a:rPr>
                        <a:t>personalization.* , feedback.* , telegram.*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3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선호 벡터 계산·재정렬 · 관리자 피드백 API · 텔레그램 봇/웹훅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>
            <a:extLst>
              <a:ext uri="{FF2B5EF4-FFF2-40B4-BE49-F238E27FC236}">
                <a16:creationId xmlns:a16="http://schemas.microsoft.com/office/drawing/2014/main" id="{22A9E9BB-F709-4D4B-A65F-D4803B7ABC9F}"/>
              </a:ext>
            </a:extLst>
          </p:cNvPr>
          <p:cNvSpPr>
            <a:spLocks noGrp="1"/>
          </p:cNvSpPr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>
                <a:solidFill>
                  <a:srgbClr val="9AA7B5"/>
                </a:solidFill>
                <a:latin typeface="Malgun Gothic"/>
                <a:ea typeface="Malgun Gothic"/>
                <a:cs typeface="Malgun Gothic"/>
              </a:rPr>
              <a:t>Spring AI Library  ·  RAG·LLM 파트 보고서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1986E07-22A5-41E6-BE78-CB4396CCD519}"/>
              </a:ext>
            </a:extLst>
          </p:cNvPr>
          <p:cNvSpPr>
            <a:spLocks noGrp="1"/>
          </p:cNvSpPr>
          <p:nvPr/>
        </p:nvSpPr>
        <p:spPr>
          <a:xfrm>
            <a:off x="8138160" y="485089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50">
                <a:solidFill>
                  <a:srgbClr val="9AA7B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5136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9BF1DA-C125-4239-AA02-43295CE1BFE3}"/>
              </a:ext>
            </a:extLst>
          </p:cNvPr>
          <p:cNvSpPr>
            <a:spLocks noGrp="1"/>
          </p:cNvSpPr>
          <p:nvPr/>
        </p:nvSpPr>
        <p:spPr>
          <a:xfrm>
            <a:off x="457200" y="310896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13047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C694EB9-C492-434F-96D1-13AF1B7F33FC}"/>
              </a:ext>
            </a:extLst>
          </p:cNvPr>
          <p:cNvSpPr>
            <a:spLocks noGrp="1"/>
          </p:cNvSpPr>
          <p:nvPr/>
        </p:nvSpPr>
        <p:spPr>
          <a:xfrm>
            <a:off x="457200" y="31089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A5AB00-3D79-4A54-9D7C-FEF923AC763B}"/>
              </a:ext>
            </a:extLst>
          </p:cNvPr>
          <p:cNvSpPr>
            <a:spLocks noGrp="1"/>
          </p:cNvSpPr>
          <p:nvPr/>
        </p:nvSpPr>
        <p:spPr>
          <a:xfrm>
            <a:off x="1280160" y="310896"/>
            <a:ext cx="74066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수행 절차 및 방법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227109D-8E21-474E-A4BB-4DBDAB719089}"/>
              </a:ext>
            </a:extLst>
          </p:cNvPr>
          <p:cNvSpPr>
            <a:spLocks noGrp="1"/>
          </p:cNvSpPr>
          <p:nvPr/>
        </p:nvSpPr>
        <p:spPr>
          <a:xfrm>
            <a:off x="1280160" y="722376"/>
            <a:ext cx="7406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1150" b="1">
                <a:solidFill>
                  <a:srgbClr val="0D9488"/>
                </a:solidFill>
                <a:latin typeface="Malgun Gothic"/>
                <a:ea typeface="Malgun Gothic"/>
                <a:cs typeface="Malgun Gothic"/>
              </a:rPr>
              <a:t>▶  </a:t>
            </a:r>
            <a:r>
              <a:rPr sz="1150">
                <a:solidFill>
                  <a:srgbClr val="5B6B7F"/>
                </a:solidFill>
                <a:latin typeface="Malgun Gothic"/>
                <a:ea typeface="Malgun Gothic"/>
                <a:cs typeface="Malgun Gothic"/>
              </a:rPr>
              <a:t>★ = 담당 단계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378F68A-E95A-4504-AC4C-77A544E4979E}"/>
              </a:ext>
            </a:extLst>
          </p:cNvPr>
          <p:cNvSpPr>
            <a:spLocks noGrp="1"/>
          </p:cNvSpPr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6" name="Table 0"/>
          <p:cNvGraphicFramePr/>
          <p:nvPr/>
        </p:nvGraphicFramePr>
        <p:xfrm>
          <a:off x="457200" y="1298448"/>
          <a:ext cx="8229600" cy="3145536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2130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2130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비고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21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 b="1">
                          <a:solidFill>
                            <a:srgbClr val="21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사전 기획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주제·아키텍처 설계, 도메인 분담, 임베딩/pgvector 스키마 설계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 분담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 b="1">
                          <a:solidFill>
                            <a:srgbClr val="21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검색·임베딩 기반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도서 CSV 대량 적재, 임베딩 생성, 하이브리드 검색 결과를 RAG 후보로 수신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베이스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 b="1">
                          <a:solidFill>
                            <a:srgbClr val="0B7A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RAG 파이프라인  ★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>
                          <a:solidFill>
                            <a:srgbClr val="104A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ContextBuilder로 후보 도서·리뷰·검색 근거를 프롬프트 컨텍스트로 구성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B7A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단계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 b="1">
                          <a:solidFill>
                            <a:srgbClr val="0B7A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LLM 응답 생성  ★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>
                          <a:solidFill>
                            <a:srgbClr val="104A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ChatModel 호출, 추천 이유 프롬프트 설계, 컨텍스트 내 후보만 사용하도록 제약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B7A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단계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 b="1">
                          <a:solidFill>
                            <a:srgbClr val="0B7A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Function Calling  ★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>
                          <a:solidFill>
                            <a:srgbClr val="104A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도구 호출 흐름 설계, 검색·상세조회·외부 도서 API 오케스트레이션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B7A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단계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 b="1">
                          <a:solidFill>
                            <a:srgbClr val="21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· 마무리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검색·개인화·리뷰 데이터와 RAG/에이전트 응답 통합, 테스트 및 문서화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중간·최종 보고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>
            <a:extLst>
              <a:ext uri="{FF2B5EF4-FFF2-40B4-BE49-F238E27FC236}">
                <a16:creationId xmlns:a16="http://schemas.microsoft.com/office/drawing/2014/main" id="{E1532383-7B18-4D14-BA27-B50050590DEC}"/>
              </a:ext>
            </a:extLst>
          </p:cNvPr>
          <p:cNvSpPr>
            <a:spLocks noGrp="1"/>
          </p:cNvSpPr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>
                <a:solidFill>
                  <a:srgbClr val="9AA7B5"/>
                </a:solidFill>
                <a:latin typeface="Malgun Gothic"/>
                <a:ea typeface="Malgun Gothic"/>
                <a:cs typeface="Malgun Gothic"/>
              </a:rPr>
              <a:t>Spring AI Library  ·  RAG·LLM 파트 보고서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DCC2324-7A38-48BC-8287-A09C49DDE73F}"/>
              </a:ext>
            </a:extLst>
          </p:cNvPr>
          <p:cNvSpPr>
            <a:spLocks noGrp="1"/>
          </p:cNvSpPr>
          <p:nvPr/>
        </p:nvSpPr>
        <p:spPr>
          <a:xfrm>
            <a:off x="8138160" y="485089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50">
                <a:solidFill>
                  <a:srgbClr val="9AA7B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84674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837EF2-B92A-4584-82B5-9B06CCF76A11}"/>
              </a:ext>
            </a:extLst>
          </p:cNvPr>
          <p:cNvSpPr>
            <a:spLocks noGrp="1"/>
          </p:cNvSpPr>
          <p:nvPr/>
        </p:nvSpPr>
        <p:spPr>
          <a:xfrm>
            <a:off x="457200" y="310896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13047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494248-0DE7-4407-9F1A-16BC4FA3E24A}"/>
              </a:ext>
            </a:extLst>
          </p:cNvPr>
          <p:cNvSpPr>
            <a:spLocks noGrp="1"/>
          </p:cNvSpPr>
          <p:nvPr/>
        </p:nvSpPr>
        <p:spPr>
          <a:xfrm>
            <a:off x="457200" y="31089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704805-C667-4BCA-8EAC-801D135E3E66}"/>
              </a:ext>
            </a:extLst>
          </p:cNvPr>
          <p:cNvSpPr>
            <a:spLocks noGrp="1"/>
          </p:cNvSpPr>
          <p:nvPr/>
        </p:nvSpPr>
        <p:spPr>
          <a:xfrm>
            <a:off x="1280160" y="310896"/>
            <a:ext cx="74066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수행 경과 (1) — 담당 파트 개요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3A6919-278A-4B1D-AF12-293D9A010648}"/>
              </a:ext>
            </a:extLst>
          </p:cNvPr>
          <p:cNvSpPr>
            <a:spLocks noGrp="1"/>
          </p:cNvSpPr>
          <p:nvPr/>
        </p:nvSpPr>
        <p:spPr>
          <a:xfrm>
            <a:off x="1280160" y="722376"/>
            <a:ext cx="7406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0D9488"/>
                </a:solidFill>
                <a:latin typeface="Malgun Gothic"/>
                <a:ea typeface="Malgun Gothic"/>
                <a:cs typeface="Malgun Gothic"/>
              </a:rPr>
              <a:t>▶  RAG·LLM 파트가 검색 결과를 답변 가능한 추천 컨텍스트로 바꾸는 지점과 산출물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4903B91-5357-47DB-AA61-5EF873B1EC2B}"/>
              </a:ext>
            </a:extLst>
          </p:cNvPr>
          <p:cNvSpPr>
            <a:spLocks noGrp="1"/>
          </p:cNvSpPr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B716BC7-B4A9-47F9-92AE-FDC34543480E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1170432" cy="603504"/>
          </a:xfrm>
          <a:prstGeom prst="roundRect">
            <a:avLst>
              <a:gd name="adj" fmla="val 9091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6032EE9-D167-4B7C-B1A4-FE4D37579407}"/>
              </a:ext>
            </a:extLst>
          </p:cNvPr>
          <p:cNvSpPr>
            <a:spLocks noGrp="1"/>
          </p:cNvSpPr>
          <p:nvPr/>
        </p:nvSpPr>
        <p:spPr>
          <a:xfrm>
            <a:off x="484632" y="1371600"/>
            <a:ext cx="1115568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sz="88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사용자 질문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939B0D5-144A-47FA-98F5-5717B317B35F}"/>
              </a:ext>
            </a:extLst>
          </p:cNvPr>
          <p:cNvSpPr>
            <a:spLocks noGrp="1"/>
          </p:cNvSpPr>
          <p:nvPr/>
        </p:nvSpPr>
        <p:spPr>
          <a:xfrm>
            <a:off x="1632204" y="1673352"/>
            <a:ext cx="109728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8B01D0A-DDBE-4DB3-9819-DD383140C4DE}"/>
              </a:ext>
            </a:extLst>
          </p:cNvPr>
          <p:cNvSpPr>
            <a:spLocks noGrp="1"/>
          </p:cNvSpPr>
          <p:nvPr/>
        </p:nvSpPr>
        <p:spPr>
          <a:xfrm>
            <a:off x="1764792" y="1371600"/>
            <a:ext cx="1170432" cy="603504"/>
          </a:xfrm>
          <a:prstGeom prst="roundRect">
            <a:avLst>
              <a:gd name="adj" fmla="val 90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CA0E669-0DC5-46C5-809B-58667F569F3F}"/>
              </a:ext>
            </a:extLst>
          </p:cNvPr>
          <p:cNvSpPr>
            <a:spLocks noGrp="1"/>
          </p:cNvSpPr>
          <p:nvPr/>
        </p:nvSpPr>
        <p:spPr>
          <a:xfrm>
            <a:off x="1792224" y="1371600"/>
            <a:ext cx="1115568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sz="88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하이브리드 검색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991D9A7-3B51-4F34-B0D8-0088372BB208}"/>
              </a:ext>
            </a:extLst>
          </p:cNvPr>
          <p:cNvSpPr>
            <a:spLocks noGrp="1"/>
          </p:cNvSpPr>
          <p:nvPr/>
        </p:nvSpPr>
        <p:spPr>
          <a:xfrm>
            <a:off x="2939796" y="1673352"/>
            <a:ext cx="109728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2B27420-337E-4BE2-AFFD-43E33914DCF8}"/>
              </a:ext>
            </a:extLst>
          </p:cNvPr>
          <p:cNvSpPr>
            <a:spLocks noGrp="1"/>
          </p:cNvSpPr>
          <p:nvPr/>
        </p:nvSpPr>
        <p:spPr>
          <a:xfrm>
            <a:off x="3072384" y="1371600"/>
            <a:ext cx="1170432" cy="603504"/>
          </a:xfrm>
          <a:prstGeom prst="roundRect">
            <a:avLst>
              <a:gd name="adj" fmla="val 9091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7276222-8D57-49C3-9AC4-FC54A68D553D}"/>
              </a:ext>
            </a:extLst>
          </p:cNvPr>
          <p:cNvSpPr>
            <a:spLocks noGrp="1"/>
          </p:cNvSpPr>
          <p:nvPr/>
        </p:nvSpPr>
        <p:spPr>
          <a:xfrm>
            <a:off x="3099816" y="1371600"/>
            <a:ext cx="1115568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sz="88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ContextBuilder ★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B41CB0C-1217-48F5-935B-875452ADD139}"/>
              </a:ext>
            </a:extLst>
          </p:cNvPr>
          <p:cNvSpPr>
            <a:spLocks noGrp="1"/>
          </p:cNvSpPr>
          <p:nvPr/>
        </p:nvSpPr>
        <p:spPr>
          <a:xfrm>
            <a:off x="4247388" y="1673352"/>
            <a:ext cx="109728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0DA97AA-6144-4C71-97C0-3E8AE579613A}"/>
              </a:ext>
            </a:extLst>
          </p:cNvPr>
          <p:cNvSpPr>
            <a:spLocks noGrp="1"/>
          </p:cNvSpPr>
          <p:nvPr/>
        </p:nvSpPr>
        <p:spPr>
          <a:xfrm>
            <a:off x="4379976" y="1371600"/>
            <a:ext cx="1170432" cy="603504"/>
          </a:xfrm>
          <a:prstGeom prst="roundRect">
            <a:avLst>
              <a:gd name="adj" fmla="val 9091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C3368BC-2B74-4290-9815-17C618BF5EDA}"/>
              </a:ext>
            </a:extLst>
          </p:cNvPr>
          <p:cNvSpPr>
            <a:spLocks noGrp="1"/>
          </p:cNvSpPr>
          <p:nvPr/>
        </p:nvSpPr>
        <p:spPr>
          <a:xfrm>
            <a:off x="4407408" y="1371600"/>
            <a:ext cx="1115568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sz="88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프롬프트 구성 ★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2C40E44-E029-4983-AE4F-021071B1C801}"/>
              </a:ext>
            </a:extLst>
          </p:cNvPr>
          <p:cNvSpPr>
            <a:spLocks noGrp="1"/>
          </p:cNvSpPr>
          <p:nvPr/>
        </p:nvSpPr>
        <p:spPr>
          <a:xfrm>
            <a:off x="5554980" y="1673352"/>
            <a:ext cx="109728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E1D8A0D-AA1A-4035-AF64-A4564726C01E}"/>
              </a:ext>
            </a:extLst>
          </p:cNvPr>
          <p:cNvSpPr>
            <a:spLocks noGrp="1"/>
          </p:cNvSpPr>
          <p:nvPr/>
        </p:nvSpPr>
        <p:spPr>
          <a:xfrm>
            <a:off x="5687568" y="1371600"/>
            <a:ext cx="1170432" cy="603504"/>
          </a:xfrm>
          <a:prstGeom prst="roundRect">
            <a:avLst>
              <a:gd name="adj" fmla="val 90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F4908C4-8E6D-47DD-97F5-7572A9C72148}"/>
              </a:ext>
            </a:extLst>
          </p:cNvPr>
          <p:cNvSpPr>
            <a:spLocks noGrp="1"/>
          </p:cNvSpPr>
          <p:nvPr/>
        </p:nvSpPr>
        <p:spPr>
          <a:xfrm>
            <a:off x="5715000" y="1371600"/>
            <a:ext cx="1115568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sz="88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ChatModel 호출 ★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89D3B82-F4A2-490B-8E23-91AF7D4D175F}"/>
              </a:ext>
            </a:extLst>
          </p:cNvPr>
          <p:cNvSpPr>
            <a:spLocks noGrp="1"/>
          </p:cNvSpPr>
          <p:nvPr/>
        </p:nvSpPr>
        <p:spPr>
          <a:xfrm>
            <a:off x="6862572" y="1673352"/>
            <a:ext cx="109728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9425F4D-3A53-4064-9ACD-BC70327C9DB7}"/>
              </a:ext>
            </a:extLst>
          </p:cNvPr>
          <p:cNvSpPr>
            <a:spLocks noGrp="1"/>
          </p:cNvSpPr>
          <p:nvPr/>
        </p:nvSpPr>
        <p:spPr>
          <a:xfrm>
            <a:off x="6995160" y="1371600"/>
            <a:ext cx="1170432" cy="603504"/>
          </a:xfrm>
          <a:prstGeom prst="roundRect">
            <a:avLst>
              <a:gd name="adj" fmla="val 9091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5D1AA70-34E1-4D0E-8971-E1516F895AD1}"/>
              </a:ext>
            </a:extLst>
          </p:cNvPr>
          <p:cNvSpPr>
            <a:spLocks noGrp="1"/>
          </p:cNvSpPr>
          <p:nvPr/>
        </p:nvSpPr>
        <p:spPr>
          <a:xfrm>
            <a:off x="7022592" y="1371600"/>
            <a:ext cx="1115568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sz="88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추천 응답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FA2E4B8-1464-470B-AC63-925090F69447}"/>
              </a:ext>
            </a:extLst>
          </p:cNvPr>
          <p:cNvSpPr>
            <a:spLocks noGrp="1"/>
          </p:cNvSpPr>
          <p:nvPr/>
        </p:nvSpPr>
        <p:spPr>
          <a:xfrm>
            <a:off x="457200" y="20848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9B6D908-A0B7-468C-B0AF-6D8747D56746}"/>
              </a:ext>
            </a:extLst>
          </p:cNvPr>
          <p:cNvSpPr>
            <a:spLocks noGrp="1"/>
          </p:cNvSpPr>
          <p:nvPr/>
        </p:nvSpPr>
        <p:spPr>
          <a:xfrm>
            <a:off x="457200" y="2395728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213047"/>
          </a:solidFill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96896"/>
            <a:ext cx="384048" cy="384048"/>
          </a:xfrm>
          <a:prstGeom prst="rect">
            <a:avLst/>
          </a:prstGeom>
        </p:spPr>
      </p:pic>
      <p:sp>
        <p:nvSpPr>
          <p:cNvPr id="27" name="Text 24">
            <a:extLst>
              <a:ext uri="{FF2B5EF4-FFF2-40B4-BE49-F238E27FC236}">
                <a16:creationId xmlns:a16="http://schemas.microsoft.com/office/drawing/2014/main" id="{792A48FC-D662-4C71-B0C6-0D5903002142}"/>
              </a:ext>
            </a:extLst>
          </p:cNvPr>
          <p:cNvSpPr>
            <a:spLocks noGrp="1"/>
          </p:cNvSpPr>
          <p:nvPr/>
        </p:nvSpPr>
        <p:spPr>
          <a:xfrm>
            <a:off x="2331720" y="256032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2000" b="1">
                <a:solidFill>
                  <a:srgbClr val="35507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FB20608D-0CEA-4781-BE6F-0916FFCFACDE}"/>
              </a:ext>
            </a:extLst>
          </p:cNvPr>
          <p:cNvSpPr>
            <a:spLocks noGrp="1"/>
          </p:cNvSpPr>
          <p:nvPr/>
        </p:nvSpPr>
        <p:spPr>
          <a:xfrm>
            <a:off x="658368" y="3054096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95000"/>
              </a:lnSpc>
              <a:buNone/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RAG 컨텍스트 구성</a:t>
            </a: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2C6AB73F-42EE-4099-B879-8E0F72AC9AF4}"/>
              </a:ext>
            </a:extLst>
          </p:cNvPr>
          <p:cNvSpPr>
            <a:spLocks noGrp="1"/>
          </p:cNvSpPr>
          <p:nvPr/>
        </p:nvSpPr>
        <p:spPr>
          <a:xfrm>
            <a:off x="658368" y="3493008"/>
            <a:ext cx="2157984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00000"/>
              </a:lnSpc>
              <a:buNone/>
            </a:pPr>
            <a:r>
              <a:rPr sz="920">
                <a:solidFill>
                  <a:srgbClr val="CFE9E6"/>
                </a:solidFill>
                <a:latin typeface="Malgun Gothic"/>
                <a:ea typeface="Malgun Gothic"/>
                <a:cs typeface="Malgun Gothic"/>
              </a:rPr>
              <a:t>검색·개인화 결과를 후보 도서로 받고 제목·저자·설명·리뷰 근거를 LLM 입력 형식으로 정리.</a:t>
            </a: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AC4D075B-8BD6-4531-936A-C4DACCE6E6A7}"/>
              </a:ext>
            </a:extLst>
          </p:cNvPr>
          <p:cNvSpPr>
            <a:spLocks noGrp="1"/>
          </p:cNvSpPr>
          <p:nvPr/>
        </p:nvSpPr>
        <p:spPr>
          <a:xfrm>
            <a:off x="3291840" y="2395728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213047"/>
          </a:solidFill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7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2596896"/>
            <a:ext cx="384048" cy="384048"/>
          </a:xfrm>
          <a:prstGeom prst="rect">
            <a:avLst/>
          </a:prstGeom>
        </p:spPr>
      </p:pic>
      <p:sp>
        <p:nvSpPr>
          <p:cNvPr id="33" name="Text 29">
            <a:extLst>
              <a:ext uri="{FF2B5EF4-FFF2-40B4-BE49-F238E27FC236}">
                <a16:creationId xmlns:a16="http://schemas.microsoft.com/office/drawing/2014/main" id="{56FEA2A5-D79B-44D6-BCE8-B9598BE3D2D5}"/>
              </a:ext>
            </a:extLst>
          </p:cNvPr>
          <p:cNvSpPr>
            <a:spLocks noGrp="1"/>
          </p:cNvSpPr>
          <p:nvPr/>
        </p:nvSpPr>
        <p:spPr>
          <a:xfrm>
            <a:off x="5166360" y="256032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2000" b="1">
                <a:solidFill>
                  <a:srgbClr val="35507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8C0A8B76-64EC-42B0-AD35-CAF74D34D8A6}"/>
              </a:ext>
            </a:extLst>
          </p:cNvPr>
          <p:cNvSpPr>
            <a:spLocks noGrp="1"/>
          </p:cNvSpPr>
          <p:nvPr/>
        </p:nvSpPr>
        <p:spPr>
          <a:xfrm>
            <a:off x="3493008" y="3054096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95000"/>
              </a:lnSpc>
              <a:buNone/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추천 프롬프트·ChatModel</a:t>
            </a:r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192F5705-BDEA-40B2-9021-4B86782F026E}"/>
              </a:ext>
            </a:extLst>
          </p:cNvPr>
          <p:cNvSpPr>
            <a:spLocks noGrp="1"/>
          </p:cNvSpPr>
          <p:nvPr/>
        </p:nvSpPr>
        <p:spPr>
          <a:xfrm>
            <a:off x="3493008" y="3493008"/>
            <a:ext cx="2157984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00000"/>
              </a:lnSpc>
              <a:buNone/>
            </a:pPr>
            <a:r>
              <a:rPr sz="920">
                <a:solidFill>
                  <a:srgbClr val="CFE9E6"/>
                </a:solidFill>
                <a:latin typeface="Malgun Gothic"/>
                <a:ea typeface="Malgun Gothic"/>
                <a:cs typeface="Malgun Gothic"/>
              </a:rPr>
              <a:t>후보 목록 안에서만 추천하도록 제약하고, 독자에게 설명 가능한 추천 이유를 생성.</a:t>
            </a:r>
          </a:p>
        </p:txBody>
      </p:sp>
      <p:sp>
        <p:nvSpPr>
          <p:cNvPr id="37" name="Shape 33">
            <a:extLst>
              <a:ext uri="{FF2B5EF4-FFF2-40B4-BE49-F238E27FC236}">
                <a16:creationId xmlns:a16="http://schemas.microsoft.com/office/drawing/2014/main" id="{8D3CC07D-6B63-4292-B1F2-E322DA092BB8}"/>
              </a:ext>
            </a:extLst>
          </p:cNvPr>
          <p:cNvSpPr>
            <a:spLocks noGrp="1"/>
          </p:cNvSpPr>
          <p:nvPr/>
        </p:nvSpPr>
        <p:spPr>
          <a:xfrm>
            <a:off x="6126480" y="2395728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213047"/>
          </a:solidFill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2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2596896"/>
            <a:ext cx="384048" cy="384048"/>
          </a:xfrm>
          <a:prstGeom prst="rect">
            <a:avLst/>
          </a:prstGeom>
        </p:spPr>
      </p:pic>
      <p:sp>
        <p:nvSpPr>
          <p:cNvPr id="39" name="Text 34">
            <a:extLst>
              <a:ext uri="{FF2B5EF4-FFF2-40B4-BE49-F238E27FC236}">
                <a16:creationId xmlns:a16="http://schemas.microsoft.com/office/drawing/2014/main" id="{2827ABA1-AE45-4B40-A08F-275852433217}"/>
              </a:ext>
            </a:extLst>
          </p:cNvPr>
          <p:cNvSpPr>
            <a:spLocks noGrp="1"/>
          </p:cNvSpPr>
          <p:nvPr/>
        </p:nvSpPr>
        <p:spPr>
          <a:xfrm>
            <a:off x="8001000" y="256032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2000" b="1">
                <a:solidFill>
                  <a:srgbClr val="35507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F30FC781-A600-47B7-8C77-1A59AB74B402}"/>
              </a:ext>
            </a:extLst>
          </p:cNvPr>
          <p:cNvSpPr>
            <a:spLocks noGrp="1"/>
          </p:cNvSpPr>
          <p:nvPr/>
        </p:nvSpPr>
        <p:spPr>
          <a:xfrm>
            <a:off x="6327648" y="3054096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95000"/>
              </a:lnSpc>
              <a:buNone/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Function Calling 에이전트</a:t>
            </a:r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9DD22FFB-62BC-495A-ADFB-DC5DA2EA5887}"/>
              </a:ext>
            </a:extLst>
          </p:cNvPr>
          <p:cNvSpPr>
            <a:spLocks noGrp="1"/>
          </p:cNvSpPr>
          <p:nvPr/>
        </p:nvSpPr>
        <p:spPr>
          <a:xfrm>
            <a:off x="6327648" y="3493008"/>
            <a:ext cx="2157984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00000"/>
              </a:lnSpc>
              <a:buNone/>
            </a:pPr>
            <a:r>
              <a:rPr sz="920">
                <a:solidFill>
                  <a:srgbClr val="CFE9E6"/>
                </a:solidFill>
                <a:latin typeface="Malgun Gothic"/>
                <a:ea typeface="Malgun Gothic"/>
                <a:cs typeface="Malgun Gothic"/>
              </a:rPr>
              <a:t>사용자 의도에 따라 검색·상세조회·외부 API 도구를 선택 호출하도록 오케스트레이션.</a:t>
            </a:r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D7849F5-A025-4A74-B840-232D72525702}"/>
              </a:ext>
            </a:extLst>
          </p:cNvPr>
          <p:cNvSpPr>
            <a:spLocks noGrp="1"/>
          </p:cNvSpPr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>
                <a:solidFill>
                  <a:srgbClr val="9AA7B5"/>
                </a:solidFill>
                <a:latin typeface="Malgun Gothic"/>
                <a:ea typeface="Malgun Gothic"/>
                <a:cs typeface="Malgun Gothic"/>
              </a:rPr>
              <a:t>Spring AI Library  ·  RAG·LLM 파트 보고서</a:t>
            </a:r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E8982245-39E8-4092-B9FB-D043EE019D12}"/>
              </a:ext>
            </a:extLst>
          </p:cNvPr>
          <p:cNvSpPr>
            <a:spLocks noGrp="1"/>
          </p:cNvSpPr>
          <p:nvPr/>
        </p:nvSpPr>
        <p:spPr>
          <a:xfrm>
            <a:off x="8138160" y="485089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50">
                <a:solidFill>
                  <a:srgbClr val="9AA7B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02043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2D5C1E-24B9-487E-9847-52F42DD52480}"/>
              </a:ext>
            </a:extLst>
          </p:cNvPr>
          <p:cNvSpPr>
            <a:spLocks noGrp="1"/>
          </p:cNvSpPr>
          <p:nvPr/>
        </p:nvSpPr>
        <p:spPr>
          <a:xfrm>
            <a:off x="457200" y="310896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13047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B04956-E76B-47FD-BC4E-1DAAB0A424B0}"/>
              </a:ext>
            </a:extLst>
          </p:cNvPr>
          <p:cNvSpPr>
            <a:spLocks noGrp="1"/>
          </p:cNvSpPr>
          <p:nvPr/>
        </p:nvSpPr>
        <p:spPr>
          <a:xfrm>
            <a:off x="457200" y="31089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1A1A8E-9E9B-4380-B30E-E82E3A46224E}"/>
              </a:ext>
            </a:extLst>
          </p:cNvPr>
          <p:cNvSpPr>
            <a:spLocks noGrp="1"/>
          </p:cNvSpPr>
          <p:nvPr/>
        </p:nvSpPr>
        <p:spPr>
          <a:xfrm>
            <a:off x="1280160" y="310896"/>
            <a:ext cx="74066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수행 경과 (2) — RAG 추천 파이프라인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625933C-ADAB-4BD5-B092-6A9024AB93E5}"/>
              </a:ext>
            </a:extLst>
          </p:cNvPr>
          <p:cNvSpPr>
            <a:spLocks noGrp="1"/>
          </p:cNvSpPr>
          <p:nvPr/>
        </p:nvSpPr>
        <p:spPr>
          <a:xfrm>
            <a:off x="1280160" y="722376"/>
            <a:ext cx="7406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0D9488"/>
                </a:solidFill>
                <a:latin typeface="Malgun Gothic"/>
                <a:ea typeface="Malgun Gothic"/>
                <a:cs typeface="Malgun Gothic"/>
              </a:rPr>
              <a:t>▶  검색 결과를 컨텍스트로 변환하고 ChatModel 응답까지 이어지는 추천 생성 흐름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6945875-A238-42AF-ACC6-7DAF38DC1969}"/>
              </a:ext>
            </a:extLst>
          </p:cNvPr>
          <p:cNvSpPr>
            <a:spLocks noGrp="1"/>
          </p:cNvSpPr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56EC3C8-3437-48E4-BF56-6571A43E756F}"/>
              </a:ext>
            </a:extLst>
          </p:cNvPr>
          <p:cNvSpPr>
            <a:spLocks noGrp="1"/>
          </p:cNvSpPr>
          <p:nvPr/>
        </p:nvSpPr>
        <p:spPr>
          <a:xfrm>
            <a:off x="457200" y="1804778"/>
            <a:ext cx="2331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90E7C97-6A79-4247-97AA-C20CFB8ACFFC}"/>
              </a:ext>
            </a:extLst>
          </p:cNvPr>
          <p:cNvSpPr>
            <a:spLocks noGrp="1"/>
          </p:cNvSpPr>
          <p:nvPr/>
        </p:nvSpPr>
        <p:spPr>
          <a:xfrm>
            <a:off x="512064" y="1841354"/>
            <a:ext cx="2221992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sz="105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① 사용자 질문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sz="820">
                <a:solidFill>
                  <a:srgbClr val="5B6B7F"/>
                </a:solidFill>
                <a:latin typeface="Malgun Gothic"/>
                <a:ea typeface="Malgun Gothic"/>
                <a:cs typeface="Malgun Gothic"/>
              </a:rPr>
              <a:t>자연어 추천 의도 입력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5CB0941-0BC2-42AD-85AE-CE635F040968}"/>
              </a:ext>
            </a:extLst>
          </p:cNvPr>
          <p:cNvSpPr>
            <a:spLocks noGrp="1"/>
          </p:cNvSpPr>
          <p:nvPr/>
        </p:nvSpPr>
        <p:spPr>
          <a:xfrm>
            <a:off x="3291840" y="1804778"/>
            <a:ext cx="2331720" cy="786384"/>
          </a:xfrm>
          <a:prstGeom prst="roundRect">
            <a:avLst>
              <a:gd name="adj" fmla="val 6977"/>
            </a:avLst>
          </a:prstGeom>
          <a:solidFill>
            <a:srgbClr val="E3F4F1"/>
          </a:solidFill>
          <a:ln w="17780">
            <a:solidFill>
              <a:srgbClr val="0D948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88C8D70-4933-4655-9B58-7D274F3EC290}"/>
              </a:ext>
            </a:extLst>
          </p:cNvPr>
          <p:cNvSpPr>
            <a:spLocks noGrp="1"/>
          </p:cNvSpPr>
          <p:nvPr/>
        </p:nvSpPr>
        <p:spPr>
          <a:xfrm>
            <a:off x="3346704" y="1841354"/>
            <a:ext cx="2221992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sz="105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② 검색 후보 수신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sz="820">
                <a:solidFill>
                  <a:srgbClr val="5B6B7F"/>
                </a:solidFill>
                <a:latin typeface="Malgun Gothic"/>
                <a:ea typeface="Malgun Gothic"/>
                <a:cs typeface="Malgun Gothic"/>
              </a:rPr>
              <a:t>Top-K / RRF 결과 확보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1D96FC2-8E89-4C9A-A718-DAE5A6544DA6}"/>
              </a:ext>
            </a:extLst>
          </p:cNvPr>
          <p:cNvSpPr>
            <a:spLocks noGrp="1"/>
          </p:cNvSpPr>
          <p:nvPr/>
        </p:nvSpPr>
        <p:spPr>
          <a:xfrm>
            <a:off x="6126480" y="1804778"/>
            <a:ext cx="2331720" cy="786384"/>
          </a:xfrm>
          <a:prstGeom prst="roundRect">
            <a:avLst>
              <a:gd name="adj" fmla="val 6977"/>
            </a:avLst>
          </a:prstGeom>
          <a:solidFill>
            <a:srgbClr val="E3F4F1"/>
          </a:solidFill>
          <a:ln w="17780">
            <a:solidFill>
              <a:srgbClr val="0D948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52DF13A-8E53-4ECE-BEF0-20B8226901FA}"/>
              </a:ext>
            </a:extLst>
          </p:cNvPr>
          <p:cNvSpPr>
            <a:spLocks noGrp="1"/>
          </p:cNvSpPr>
          <p:nvPr/>
        </p:nvSpPr>
        <p:spPr>
          <a:xfrm>
            <a:off x="6181344" y="1841354"/>
            <a:ext cx="2221992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sz="105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③ ContextBuilder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sz="820">
                <a:solidFill>
                  <a:srgbClr val="5B6B7F"/>
                </a:solidFill>
                <a:latin typeface="Malgun Gothic"/>
                <a:ea typeface="Malgun Gothic"/>
                <a:cs typeface="Malgun Gothic"/>
              </a:rPr>
              <a:t>후보·리뷰·근거 조립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53917A4-7DE6-4F83-9ECF-CD6458ECF70D}"/>
              </a:ext>
            </a:extLst>
          </p:cNvPr>
          <p:cNvSpPr>
            <a:spLocks noGrp="1"/>
          </p:cNvSpPr>
          <p:nvPr/>
        </p:nvSpPr>
        <p:spPr>
          <a:xfrm>
            <a:off x="2843784" y="2197970"/>
            <a:ext cx="393192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1D9769C-7CF8-47E7-8190-41D6DA17756C}"/>
              </a:ext>
            </a:extLst>
          </p:cNvPr>
          <p:cNvSpPr>
            <a:spLocks noGrp="1"/>
          </p:cNvSpPr>
          <p:nvPr/>
        </p:nvSpPr>
        <p:spPr>
          <a:xfrm>
            <a:off x="5678424" y="2197970"/>
            <a:ext cx="393192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035D604-2BE1-4663-91C0-A5EC5C6D1F70}"/>
              </a:ext>
            </a:extLst>
          </p:cNvPr>
          <p:cNvSpPr>
            <a:spLocks noGrp="1"/>
          </p:cNvSpPr>
          <p:nvPr/>
        </p:nvSpPr>
        <p:spPr>
          <a:xfrm>
            <a:off x="7292340" y="2648196"/>
            <a:ext cx="0" cy="402336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4608A0F-CBD9-41F5-802B-32574B3D8738}"/>
              </a:ext>
            </a:extLst>
          </p:cNvPr>
          <p:cNvSpPr>
            <a:spLocks noGrp="1"/>
          </p:cNvSpPr>
          <p:nvPr/>
        </p:nvSpPr>
        <p:spPr>
          <a:xfrm>
            <a:off x="457200" y="3094082"/>
            <a:ext cx="1755648" cy="786384"/>
          </a:xfrm>
          <a:prstGeom prst="roundRect">
            <a:avLst>
              <a:gd name="adj" fmla="val 6977"/>
            </a:avLst>
          </a:prstGeom>
          <a:solidFill>
            <a:srgbClr val="E3F4F1"/>
          </a:solidFill>
          <a:ln w="17780">
            <a:solidFill>
              <a:srgbClr val="0D948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A279FB4-379A-4DEC-8BA4-57C78B655567}"/>
              </a:ext>
            </a:extLst>
          </p:cNvPr>
          <p:cNvSpPr>
            <a:spLocks noGrp="1"/>
          </p:cNvSpPr>
          <p:nvPr/>
        </p:nvSpPr>
        <p:spPr>
          <a:xfrm>
            <a:off x="512064" y="3130658"/>
            <a:ext cx="1645920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sz="105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④ 프롬프트 생성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sz="820">
                <a:solidFill>
                  <a:srgbClr val="5B6B7F"/>
                </a:solidFill>
                <a:latin typeface="Malgun Gothic"/>
                <a:ea typeface="Malgun Gothic"/>
                <a:cs typeface="Malgun Gothic"/>
              </a:rPr>
              <a:t>역할·제약·출력 형식 정의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CEA7D4A-B0E5-432F-9CDD-9C0D4B76E865}"/>
              </a:ext>
            </a:extLst>
          </p:cNvPr>
          <p:cNvSpPr>
            <a:spLocks noGrp="1"/>
          </p:cNvSpPr>
          <p:nvPr/>
        </p:nvSpPr>
        <p:spPr>
          <a:xfrm>
            <a:off x="2231136" y="3487274"/>
            <a:ext cx="256032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8497941-AC95-40D0-A443-4E010172735A}"/>
              </a:ext>
            </a:extLst>
          </p:cNvPr>
          <p:cNvSpPr>
            <a:spLocks noGrp="1"/>
          </p:cNvSpPr>
          <p:nvPr/>
        </p:nvSpPr>
        <p:spPr>
          <a:xfrm>
            <a:off x="2505456" y="3094082"/>
            <a:ext cx="175564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F289C6E-5912-4ECF-AD5B-0E0515A46BFF}"/>
              </a:ext>
            </a:extLst>
          </p:cNvPr>
          <p:cNvSpPr>
            <a:spLocks noGrp="1"/>
          </p:cNvSpPr>
          <p:nvPr/>
        </p:nvSpPr>
        <p:spPr>
          <a:xfrm>
            <a:off x="2560320" y="3130658"/>
            <a:ext cx="1645920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sz="105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⑤ ChatModel 호출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sz="820">
                <a:solidFill>
                  <a:srgbClr val="5B6B7F"/>
                </a:solidFill>
                <a:latin typeface="Malgun Gothic"/>
                <a:ea typeface="Malgun Gothic"/>
                <a:cs typeface="Malgun Gothic"/>
              </a:rPr>
              <a:t>Spring AI로 응답 생성</a:t>
            </a: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1945E3B-03C5-40F2-BEDD-BD575E8FDF25}"/>
              </a:ext>
            </a:extLst>
          </p:cNvPr>
          <p:cNvSpPr>
            <a:spLocks noGrp="1"/>
          </p:cNvSpPr>
          <p:nvPr/>
        </p:nvSpPr>
        <p:spPr>
          <a:xfrm>
            <a:off x="4279392" y="3477587"/>
            <a:ext cx="256032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1A3C54F-964C-4644-846E-7EC20C1BDAA7}"/>
              </a:ext>
            </a:extLst>
          </p:cNvPr>
          <p:cNvSpPr>
            <a:spLocks noGrp="1"/>
          </p:cNvSpPr>
          <p:nvPr/>
        </p:nvSpPr>
        <p:spPr>
          <a:xfrm>
            <a:off x="4553712" y="3094082"/>
            <a:ext cx="1755648" cy="786384"/>
          </a:xfrm>
          <a:prstGeom prst="roundRect">
            <a:avLst>
              <a:gd name="adj" fmla="val 6977"/>
            </a:avLst>
          </a:prstGeom>
          <a:solidFill>
            <a:srgbClr val="E3F4F1"/>
          </a:solidFill>
          <a:ln w="17780">
            <a:solidFill>
              <a:srgbClr val="0D948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B833340-B8C4-4242-9D45-A229A9DF6F0C}"/>
              </a:ext>
            </a:extLst>
          </p:cNvPr>
          <p:cNvSpPr>
            <a:spLocks noGrp="1"/>
          </p:cNvSpPr>
          <p:nvPr/>
        </p:nvSpPr>
        <p:spPr>
          <a:xfrm>
            <a:off x="4608576" y="3130658"/>
            <a:ext cx="1645920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sz="105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⑥ 응답 후처리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sz="820">
                <a:solidFill>
                  <a:srgbClr val="5B6B7F"/>
                </a:solidFill>
                <a:latin typeface="Malgun Gothic"/>
                <a:ea typeface="Malgun Gothic"/>
                <a:cs typeface="Malgun Gothic"/>
              </a:rPr>
              <a:t>추천 이유·후보 매핑</a:t>
            </a: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26B49E5-8CC5-4EC6-8283-76D8A33D511E}"/>
              </a:ext>
            </a:extLst>
          </p:cNvPr>
          <p:cNvSpPr>
            <a:spLocks noGrp="1"/>
          </p:cNvSpPr>
          <p:nvPr/>
        </p:nvSpPr>
        <p:spPr>
          <a:xfrm>
            <a:off x="6327648" y="3487274"/>
            <a:ext cx="256032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13310DE-550A-4AAF-85DD-1550A9577977}"/>
              </a:ext>
            </a:extLst>
          </p:cNvPr>
          <p:cNvSpPr>
            <a:spLocks noGrp="1"/>
          </p:cNvSpPr>
          <p:nvPr/>
        </p:nvSpPr>
        <p:spPr>
          <a:xfrm>
            <a:off x="6601968" y="3094082"/>
            <a:ext cx="1755648" cy="786384"/>
          </a:xfrm>
          <a:prstGeom prst="roundRect">
            <a:avLst>
              <a:gd name="adj" fmla="val 6977"/>
            </a:avLst>
          </a:prstGeom>
          <a:solidFill>
            <a:srgbClr val="E3F4F1"/>
          </a:solidFill>
          <a:ln w="17780">
            <a:solidFill>
              <a:srgbClr val="0D948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BAC39C2-405F-4A54-BA35-B66FE3E5E4FE}"/>
              </a:ext>
            </a:extLst>
          </p:cNvPr>
          <p:cNvSpPr>
            <a:spLocks noGrp="1"/>
          </p:cNvSpPr>
          <p:nvPr/>
        </p:nvSpPr>
        <p:spPr>
          <a:xfrm>
            <a:off x="6656832" y="3130658"/>
            <a:ext cx="1645920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sz="105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⑦ 결과 반환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sz="820">
                <a:solidFill>
                  <a:srgbClr val="5B6B7F"/>
                </a:solidFill>
                <a:latin typeface="Malgun Gothic"/>
                <a:ea typeface="Malgun Gothic"/>
                <a:cs typeface="Malgun Gothic"/>
              </a:rPr>
              <a:t>설명 가능한 도서 추천</a:t>
            </a: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287F07C-154B-464C-9CA2-7BCA28D68B97}"/>
              </a:ext>
            </a:extLst>
          </p:cNvPr>
          <p:cNvSpPr>
            <a:spLocks noGrp="1"/>
          </p:cNvSpPr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>
                <a:solidFill>
                  <a:srgbClr val="9AA7B5"/>
                </a:solidFill>
                <a:latin typeface="Malgun Gothic"/>
                <a:ea typeface="Malgun Gothic"/>
                <a:cs typeface="Malgun Gothic"/>
              </a:rPr>
              <a:t>Spring AI Library  ·  RAG·LLM 파트 보고서</a:t>
            </a: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5229498-F5FB-40EF-87EB-7539D7F92E8D}"/>
              </a:ext>
            </a:extLst>
          </p:cNvPr>
          <p:cNvSpPr>
            <a:spLocks noGrp="1"/>
          </p:cNvSpPr>
          <p:nvPr/>
        </p:nvSpPr>
        <p:spPr>
          <a:xfrm>
            <a:off x="8138160" y="485089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50">
                <a:solidFill>
                  <a:srgbClr val="9AA7B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22674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1C7F8E-994E-4C01-A1F2-5E419A4271F5}"/>
              </a:ext>
            </a:extLst>
          </p:cNvPr>
          <p:cNvSpPr>
            <a:spLocks noGrp="1"/>
          </p:cNvSpPr>
          <p:nvPr/>
        </p:nvSpPr>
        <p:spPr>
          <a:xfrm>
            <a:off x="457200" y="310896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13047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5EA6B9-32FF-4585-BA19-77F7B9BD9738}"/>
              </a:ext>
            </a:extLst>
          </p:cNvPr>
          <p:cNvSpPr>
            <a:spLocks noGrp="1"/>
          </p:cNvSpPr>
          <p:nvPr/>
        </p:nvSpPr>
        <p:spPr>
          <a:xfrm>
            <a:off x="457200" y="31089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3369787-C83B-4131-889D-6D0D65AD80C6}"/>
              </a:ext>
            </a:extLst>
          </p:cNvPr>
          <p:cNvSpPr>
            <a:spLocks noGrp="1"/>
          </p:cNvSpPr>
          <p:nvPr/>
        </p:nvSpPr>
        <p:spPr>
          <a:xfrm>
            <a:off x="1280160" y="310896"/>
            <a:ext cx="74066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수행 경과 (3) — 컨텍스트와 프롬프트 설계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968AC6-7869-4B7A-90D7-67C2BCF5588E}"/>
              </a:ext>
            </a:extLst>
          </p:cNvPr>
          <p:cNvSpPr>
            <a:spLocks noGrp="1"/>
          </p:cNvSpPr>
          <p:nvPr/>
        </p:nvSpPr>
        <p:spPr>
          <a:xfrm>
            <a:off x="1280160" y="722376"/>
            <a:ext cx="7406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0D9488"/>
                </a:solidFill>
                <a:latin typeface="Malgun Gothic"/>
                <a:ea typeface="Malgun Gothic"/>
                <a:cs typeface="Malgun Gothic"/>
              </a:rPr>
              <a:t>▶  LLM이 검색 근거를 벗어나지 않도록 입력 데이터와 응답 규칙을 분리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94BFDBE-8DC3-4CB5-A110-8C4DE0D9BCA5}"/>
              </a:ext>
            </a:extLst>
          </p:cNvPr>
          <p:cNvSpPr>
            <a:spLocks noGrp="1"/>
          </p:cNvSpPr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32D3775-12B3-4AC8-973B-90F34AD1B13A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3931920" cy="1207008"/>
          </a:xfrm>
          <a:prstGeom prst="roundRect">
            <a:avLst>
              <a:gd name="adj" fmla="val 5303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AC6C025-8DD0-47C0-B1CF-C24F47DD4B39}"/>
              </a:ext>
            </a:extLst>
          </p:cNvPr>
          <p:cNvSpPr>
            <a:spLocks noGrp="1"/>
          </p:cNvSpPr>
          <p:nvPr/>
        </p:nvSpPr>
        <p:spPr>
          <a:xfrm>
            <a:off x="640080" y="1408176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02000"/>
              </a:lnSpc>
              <a:buNone/>
            </a:pPr>
            <a:r>
              <a:rPr sz="125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ContextBuilder 구성</a:t>
            </a:r>
          </a:p>
          <a:p>
            <a:pPr>
              <a:lnSpc>
                <a:spcPct val="102000"/>
              </a:lnSpc>
              <a:buNone/>
            </a:pPr>
            <a:endParaRPr sz="1250" b="1">
              <a:solidFill>
                <a:srgbClr val="213047"/>
              </a:solidFill>
              <a:latin typeface="Malgun Gothic"/>
              <a:ea typeface="Malgun Gothic"/>
              <a:cs typeface="Malgun Gothic"/>
            </a:endParaRPr>
          </a:p>
          <a:p>
            <a:pPr>
              <a:lnSpc>
                <a:spcPct val="102000"/>
              </a:lnSpc>
              <a:buNone/>
            </a:pPr>
            <a:r>
              <a:rPr sz="95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후보 도서의 제목·저자·설명·분류와 검색 점수를 정리.</a:t>
            </a:r>
          </a:p>
          <a:p>
            <a:pPr>
              <a:lnSpc>
                <a:spcPct val="102000"/>
              </a:lnSpc>
              <a:buNone/>
            </a:pPr>
            <a:r>
              <a:rPr sz="95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리뷰 요약이 있으면 추천 근거에 함께 포함.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5F10CFE-9947-462B-AD25-B11088C26C6D}"/>
              </a:ext>
            </a:extLst>
          </p:cNvPr>
          <p:cNvSpPr>
            <a:spLocks noGrp="1"/>
          </p:cNvSpPr>
          <p:nvPr/>
        </p:nvSpPr>
        <p:spPr>
          <a:xfrm>
            <a:off x="457200" y="2633472"/>
            <a:ext cx="3931920" cy="1207008"/>
          </a:xfrm>
          <a:prstGeom prst="roundRect">
            <a:avLst>
              <a:gd name="adj" fmla="val 5303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1DB4286-0075-42C9-A0D4-DC897569AFBA}"/>
              </a:ext>
            </a:extLst>
          </p:cNvPr>
          <p:cNvSpPr>
            <a:spLocks noGrp="1"/>
          </p:cNvSpPr>
          <p:nvPr/>
        </p:nvSpPr>
        <p:spPr>
          <a:xfrm>
            <a:off x="640080" y="274320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02000"/>
              </a:lnSpc>
              <a:buNone/>
            </a:pPr>
            <a:r>
              <a:rPr sz="125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프롬프트 제약</a:t>
            </a:r>
          </a:p>
          <a:p>
            <a:pPr>
              <a:lnSpc>
                <a:spcPct val="102000"/>
              </a:lnSpc>
              <a:buNone/>
            </a:pPr>
            <a:endParaRPr sz="1250" b="1">
              <a:solidFill>
                <a:srgbClr val="213047"/>
              </a:solidFill>
              <a:latin typeface="Malgun Gothic"/>
              <a:ea typeface="Malgun Gothic"/>
              <a:cs typeface="Malgun Gothic"/>
            </a:endParaRPr>
          </a:p>
          <a:p>
            <a:pPr>
              <a:lnSpc>
                <a:spcPct val="102000"/>
              </a:lnSpc>
              <a:buNone/>
            </a:pPr>
            <a:r>
              <a:rPr sz="95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후보 목록 밖 도서는 추천하지 않도록 제한.</a:t>
            </a:r>
          </a:p>
          <a:p>
            <a:pPr marL="0" indent="0">
              <a:lnSpc>
                <a:spcPct val="102000"/>
              </a:lnSpc>
              <a:buNone/>
            </a:pPr>
            <a:r>
              <a:rPr sz="95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추천 이유는 사용자의 질문과 도서 근거를 연결해 작성.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1714AA1-8037-4AFD-9697-06CFDBB4A0CE}"/>
              </a:ext>
            </a:extLst>
          </p:cNvPr>
          <p:cNvSpPr>
            <a:spLocks noGrp="1"/>
          </p:cNvSpPr>
          <p:nvPr/>
        </p:nvSpPr>
        <p:spPr>
          <a:xfrm>
            <a:off x="457200" y="3968496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213047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686209C-1E64-4B47-885B-F15ACE2C5C0F}"/>
              </a:ext>
            </a:extLst>
          </p:cNvPr>
          <p:cNvSpPr>
            <a:spLocks noGrp="1"/>
          </p:cNvSpPr>
          <p:nvPr/>
        </p:nvSpPr>
        <p:spPr>
          <a:xfrm>
            <a:off x="640080" y="3968496"/>
            <a:ext cx="356616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95000"/>
              </a:lnSpc>
              <a:buNone/>
            </a:pPr>
            <a:r>
              <a:rPr sz="10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전환 기준  후보가 충분하면 RAG 추천, 부족하면 외부 API/추가 검색 도구 호출로 보강</a:t>
            </a:r>
          </a:p>
        </p:txBody>
      </p:sp>
      <p:pic>
        <p:nvPicPr>
          <p:cNvPr id="4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16736"/>
            <a:ext cx="182880" cy="182880"/>
          </a:xfrm>
          <a:prstGeom prst="rect">
            <a:avLst/>
          </a:prstGeom>
        </p:spPr>
      </p:pic>
      <p:sp>
        <p:nvSpPr>
          <p:cNvPr id="14" name="Text 11">
            <a:extLst>
              <a:ext uri="{FF2B5EF4-FFF2-40B4-BE49-F238E27FC236}">
                <a16:creationId xmlns:a16="http://schemas.microsoft.com/office/drawing/2014/main" id="{6742EB35-413D-4694-BD5B-856188E183DF}"/>
              </a:ext>
            </a:extLst>
          </p:cNvPr>
          <p:cNvSpPr>
            <a:spLocks noGrp="1"/>
          </p:cNvSpPr>
          <p:nvPr/>
        </p:nvSpPr>
        <p:spPr>
          <a:xfrm>
            <a:off x="4919472" y="1261872"/>
            <a:ext cx="3767328" cy="5120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8000"/>
              </a:lnSpc>
              <a:buNone/>
            </a:pPr>
            <a:r>
              <a:rPr sz="105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입력 컨텍스트  </a:t>
            </a:r>
          </a:p>
          <a:p>
            <a:pPr>
              <a:lnSpc>
                <a:spcPct val="98000"/>
              </a:lnSpc>
              <a:buNone/>
            </a:pPr>
            <a:r>
              <a:rPr sz="90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질문 + 후보 도서 + 리뷰/평점 + 검색 근거를 구조화해 전달</a:t>
            </a:r>
          </a:p>
        </p:txBody>
      </p:sp>
      <p:pic>
        <p:nvPicPr>
          <p:cNvPr id="4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883664"/>
            <a:ext cx="182880" cy="182880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ADFCCBB2-E215-494B-916D-BADAE7EF1300}"/>
              </a:ext>
            </a:extLst>
          </p:cNvPr>
          <p:cNvSpPr>
            <a:spLocks noGrp="1"/>
          </p:cNvSpPr>
          <p:nvPr/>
        </p:nvSpPr>
        <p:spPr>
          <a:xfrm>
            <a:off x="4919472" y="1828800"/>
            <a:ext cx="3767328" cy="5120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8000"/>
              </a:lnSpc>
              <a:buNone/>
            </a:pPr>
            <a:r>
              <a:rPr sz="105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응답 형식  </a:t>
            </a:r>
          </a:p>
          <a:p>
            <a:pPr marL="0" indent="0">
              <a:lnSpc>
                <a:spcPct val="98000"/>
              </a:lnSpc>
              <a:buNone/>
            </a:pPr>
            <a:r>
              <a:rPr sz="90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추천 도서명, 추천 이유, 근거 문장을 일정한 포맷으로 생성</a:t>
            </a:r>
          </a:p>
        </p:txBody>
      </p:sp>
      <p:pic>
        <p:nvPicPr>
          <p:cNvPr id="44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450592"/>
            <a:ext cx="182880" cy="182880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B267D0CC-DD7E-4652-9E06-F37CB9F97453}"/>
              </a:ext>
            </a:extLst>
          </p:cNvPr>
          <p:cNvSpPr>
            <a:spLocks noGrp="1"/>
          </p:cNvSpPr>
          <p:nvPr/>
        </p:nvSpPr>
        <p:spPr>
          <a:xfrm>
            <a:off x="4919472" y="2395728"/>
            <a:ext cx="3767328" cy="5120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8000"/>
              </a:lnSpc>
              <a:buNone/>
            </a:pPr>
            <a:r>
              <a:rPr sz="105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환각 방지  </a:t>
            </a:r>
          </a:p>
          <a:p>
            <a:pPr>
              <a:lnSpc>
                <a:spcPct val="98000"/>
              </a:lnSpc>
              <a:buNone/>
            </a:pPr>
            <a:r>
              <a:rPr sz="90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컨텍스트 내 후보만 사용하고 없는 정보는 추정하지 않도록 명시</a:t>
            </a:r>
          </a:p>
        </p:txBody>
      </p:sp>
      <p:pic>
        <p:nvPicPr>
          <p:cNvPr id="46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017520"/>
            <a:ext cx="182880" cy="182880"/>
          </a:xfrm>
          <a:prstGeom prst="rect">
            <a:avLst/>
          </a:prstGeom>
        </p:spPr>
      </p:pic>
      <p:sp>
        <p:nvSpPr>
          <p:cNvPr id="20" name="Text 14">
            <a:extLst>
              <a:ext uri="{FF2B5EF4-FFF2-40B4-BE49-F238E27FC236}">
                <a16:creationId xmlns:a16="http://schemas.microsoft.com/office/drawing/2014/main" id="{9C8E365E-6049-4C8A-AD46-1A0CF429EBA1}"/>
              </a:ext>
            </a:extLst>
          </p:cNvPr>
          <p:cNvSpPr>
            <a:spLocks noGrp="1"/>
          </p:cNvSpPr>
          <p:nvPr/>
        </p:nvSpPr>
        <p:spPr>
          <a:xfrm>
            <a:off x="4919472" y="2962656"/>
            <a:ext cx="3767328" cy="5120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8000"/>
              </a:lnSpc>
              <a:buNone/>
            </a:pPr>
            <a:r>
              <a:rPr sz="105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운영 관점  </a:t>
            </a:r>
          </a:p>
          <a:p>
            <a:pPr marL="0" indent="0">
              <a:lnSpc>
                <a:spcPct val="98000"/>
              </a:lnSpc>
              <a:buNone/>
            </a:pPr>
            <a:r>
              <a:rPr sz="90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모델 응답 실패 시 예외 처리와 기본 검색 결과로 graceful fallback</a:t>
            </a:r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D4AAC4F5-1137-4477-B1C7-2500D7872BDE}"/>
              </a:ext>
            </a:extLst>
          </p:cNvPr>
          <p:cNvSpPr>
            <a:spLocks noGrp="1"/>
          </p:cNvSpPr>
          <p:nvPr/>
        </p:nvSpPr>
        <p:spPr>
          <a:xfrm>
            <a:off x="4663440" y="3621024"/>
            <a:ext cx="4023360" cy="932688"/>
          </a:xfrm>
          <a:prstGeom prst="roundRect">
            <a:avLst>
              <a:gd name="adj" fmla="val 5882"/>
            </a:avLst>
          </a:prstGeom>
          <a:solidFill>
            <a:srgbClr val="0F1B2E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7DA79936-A3AE-46E6-A42B-51F8A80188A7}"/>
              </a:ext>
            </a:extLst>
          </p:cNvPr>
          <p:cNvSpPr>
            <a:spLocks noGrp="1"/>
          </p:cNvSpPr>
          <p:nvPr/>
        </p:nvSpPr>
        <p:spPr>
          <a:xfrm>
            <a:off x="4809744" y="3694176"/>
            <a:ext cx="3749040" cy="7863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98000"/>
              </a:lnSpc>
              <a:buNone/>
            </a:pPr>
            <a:r>
              <a:rPr sz="850" dirty="0">
                <a:solidFill>
                  <a:srgbClr val="9FE9DF"/>
                </a:solidFill>
                <a:latin typeface="Consolas"/>
                <a:ea typeface="Consolas"/>
                <a:cs typeface="Consolas"/>
              </a:rPr>
              <a:t>RAG Prompt = {</a:t>
            </a:r>
          </a:p>
          <a:p>
            <a:pPr marL="0" indent="0">
              <a:lnSpc>
                <a:spcPct val="98000"/>
              </a:lnSpc>
              <a:buNone/>
            </a:pPr>
            <a:r>
              <a:rPr sz="850" dirty="0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  question,</a:t>
            </a:r>
          </a:p>
          <a:p>
            <a:pPr marL="0" indent="0">
              <a:lnSpc>
                <a:spcPct val="98000"/>
              </a:lnSpc>
              <a:buNone/>
            </a:pPr>
            <a:r>
              <a:rPr sz="850" dirty="0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  candidates,</a:t>
            </a:r>
          </a:p>
          <a:p>
            <a:pPr marL="0" indent="0">
              <a:lnSpc>
                <a:spcPct val="98000"/>
              </a:lnSpc>
              <a:buNone/>
            </a:pPr>
            <a:r>
              <a:rPr sz="850" dirty="0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850" dirty="0" err="1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reviewSignals</a:t>
            </a:r>
            <a:r>
              <a:rPr sz="850" dirty="0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marL="0" indent="0">
              <a:lnSpc>
                <a:spcPct val="98000"/>
              </a:lnSpc>
              <a:buNone/>
            </a:pPr>
            <a:r>
              <a:rPr sz="860" dirty="0">
                <a:solidFill>
                  <a:srgbClr val="9FE9D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860" dirty="0" err="1">
                <a:solidFill>
                  <a:srgbClr val="9FE9DF"/>
                </a:solidFill>
                <a:latin typeface="Consolas"/>
                <a:ea typeface="Consolas"/>
                <a:cs typeface="Consolas"/>
              </a:rPr>
              <a:t>outputRules</a:t>
            </a:r>
            <a:endParaRPr sz="860" dirty="0">
              <a:solidFill>
                <a:srgbClr val="9FE9DF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lnSpc>
                <a:spcPct val="98000"/>
              </a:lnSpc>
              <a:buNone/>
            </a:pPr>
            <a:r>
              <a:rPr sz="860" dirty="0">
                <a:solidFill>
                  <a:srgbClr val="9FE9D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6724DCF7-CC2A-425B-9498-AA3A5141E7FA}"/>
              </a:ext>
            </a:extLst>
          </p:cNvPr>
          <p:cNvSpPr>
            <a:spLocks noGrp="1"/>
          </p:cNvSpPr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>
                <a:solidFill>
                  <a:srgbClr val="9AA7B5"/>
                </a:solidFill>
                <a:latin typeface="Malgun Gothic"/>
                <a:ea typeface="Malgun Gothic"/>
                <a:cs typeface="Malgun Gothic"/>
              </a:rPr>
              <a:t>Spring AI Library  ·  RAG·LLM 파트 보고서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8A29F48E-5CEA-4666-A719-3312772E2583}"/>
              </a:ext>
            </a:extLst>
          </p:cNvPr>
          <p:cNvSpPr>
            <a:spLocks noGrp="1"/>
          </p:cNvSpPr>
          <p:nvPr/>
        </p:nvSpPr>
        <p:spPr>
          <a:xfrm>
            <a:off x="8138160" y="485089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50">
                <a:solidFill>
                  <a:srgbClr val="9AA7B5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63327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2281E9-FB61-45C0-AFF8-BA12910BCA7E}"/>
              </a:ext>
            </a:extLst>
          </p:cNvPr>
          <p:cNvSpPr>
            <a:spLocks noGrp="1"/>
          </p:cNvSpPr>
          <p:nvPr/>
        </p:nvSpPr>
        <p:spPr>
          <a:xfrm>
            <a:off x="457200" y="310896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13047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C81136-9B8D-4CFC-8D1F-A7C4FAAB64CE}"/>
              </a:ext>
            </a:extLst>
          </p:cNvPr>
          <p:cNvSpPr>
            <a:spLocks noGrp="1"/>
          </p:cNvSpPr>
          <p:nvPr/>
        </p:nvSpPr>
        <p:spPr>
          <a:xfrm>
            <a:off x="457200" y="31089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66EAA3-AD17-4042-A5D5-83D069B50B97}"/>
              </a:ext>
            </a:extLst>
          </p:cNvPr>
          <p:cNvSpPr>
            <a:spLocks noGrp="1"/>
          </p:cNvSpPr>
          <p:nvPr/>
        </p:nvSpPr>
        <p:spPr>
          <a:xfrm>
            <a:off x="1280160" y="310896"/>
            <a:ext cx="74066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수행 경과 (4) — Function Calling 에이전트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88C3F43-972E-4E87-97BC-A3090A55B7D2}"/>
              </a:ext>
            </a:extLst>
          </p:cNvPr>
          <p:cNvSpPr>
            <a:spLocks noGrp="1"/>
          </p:cNvSpPr>
          <p:nvPr/>
        </p:nvSpPr>
        <p:spPr>
          <a:xfrm>
            <a:off x="1280160" y="722376"/>
            <a:ext cx="7406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0D9488"/>
                </a:solidFill>
                <a:latin typeface="Malgun Gothic"/>
                <a:ea typeface="Malgun Gothic"/>
                <a:cs typeface="Malgun Gothic"/>
              </a:rPr>
              <a:t>▶  사용자의 자연어 요청을 도구 호출로 분해해 검색·상세조회·외부 API를 연결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331C275-2664-4F61-8A7A-6FD67DA20757}"/>
              </a:ext>
            </a:extLst>
          </p:cNvPr>
          <p:cNvSpPr>
            <a:spLocks noGrp="1"/>
          </p:cNvSpPr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FA4577A-9B9E-43CC-92E2-1064AEE4103F}"/>
              </a:ext>
            </a:extLst>
          </p:cNvPr>
          <p:cNvSpPr>
            <a:spLocks noGrp="1"/>
          </p:cNvSpPr>
          <p:nvPr/>
        </p:nvSpPr>
        <p:spPr>
          <a:xfrm>
            <a:off x="457200" y="128016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① 사용자 의도 분석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713F9A1-F23A-485C-843B-06F64CD06AD4}"/>
              </a:ext>
            </a:extLst>
          </p:cNvPr>
          <p:cNvSpPr>
            <a:spLocks noGrp="1"/>
          </p:cNvSpPr>
          <p:nvPr/>
        </p:nvSpPr>
        <p:spPr>
          <a:xfrm>
            <a:off x="457200" y="1627632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00EB203-1497-4FCD-8FF6-1CAB2416676A}"/>
              </a:ext>
            </a:extLst>
          </p:cNvPr>
          <p:cNvSpPr>
            <a:spLocks noGrp="1"/>
          </p:cNvSpPr>
          <p:nvPr/>
        </p:nvSpPr>
        <p:spPr>
          <a:xfrm>
            <a:off x="512064" y="1664208"/>
            <a:ext cx="3867912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sz="105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질문 유형 판단</a:t>
            </a:r>
          </a:p>
          <a:p>
            <a:pPr algn="ctr">
              <a:lnSpc>
                <a:spcPct val="95000"/>
              </a:lnSpc>
              <a:buNone/>
            </a:pPr>
            <a:r>
              <a:rPr sz="800">
                <a:solidFill>
                  <a:srgbClr val="5B6B7F"/>
                </a:solidFill>
                <a:latin typeface="Malgun Gothic"/>
                <a:ea typeface="Malgun Gothic"/>
                <a:cs typeface="Malgun Gothic"/>
              </a:rPr>
              <a:t>추천·상세조회·추가 정보 요청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B019D1D-6EF8-47C0-852A-87C342D77DEB}"/>
              </a:ext>
            </a:extLst>
          </p:cNvPr>
          <p:cNvSpPr>
            <a:spLocks noGrp="1"/>
          </p:cNvSpPr>
          <p:nvPr/>
        </p:nvSpPr>
        <p:spPr>
          <a:xfrm>
            <a:off x="2446020" y="2212848"/>
            <a:ext cx="0" cy="256032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6712288-2CFE-4C69-A907-4301242BF467}"/>
              </a:ext>
            </a:extLst>
          </p:cNvPr>
          <p:cNvSpPr>
            <a:spLocks noGrp="1"/>
          </p:cNvSpPr>
          <p:nvPr/>
        </p:nvSpPr>
        <p:spPr>
          <a:xfrm>
            <a:off x="457200" y="2487168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E3F4F1"/>
          </a:solidFill>
          <a:ln w="17780">
            <a:solidFill>
              <a:srgbClr val="0D948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BE8C0C9-9EDD-448C-8E01-D8B41E4432D2}"/>
              </a:ext>
            </a:extLst>
          </p:cNvPr>
          <p:cNvSpPr>
            <a:spLocks noGrp="1"/>
          </p:cNvSpPr>
          <p:nvPr/>
        </p:nvSpPr>
        <p:spPr>
          <a:xfrm>
            <a:off x="512064" y="2523744"/>
            <a:ext cx="3867912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sz="105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Tool 선택</a:t>
            </a:r>
          </a:p>
          <a:p>
            <a:pPr algn="ctr">
              <a:lnSpc>
                <a:spcPct val="95000"/>
              </a:lnSpc>
              <a:buNone/>
            </a:pPr>
            <a:r>
              <a:rPr sz="800">
                <a:solidFill>
                  <a:srgbClr val="5B6B7F"/>
                </a:solidFill>
                <a:latin typeface="Malgun Gothic"/>
                <a:ea typeface="Malgun Gothic"/>
                <a:cs typeface="Malgun Gothic"/>
              </a:rPr>
              <a:t>bookSearch / bookDetail / externalBookApi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F5B1867-A9FD-45BF-B20B-2FA98A12717E}"/>
              </a:ext>
            </a:extLst>
          </p:cNvPr>
          <p:cNvSpPr>
            <a:spLocks noGrp="1"/>
          </p:cNvSpPr>
          <p:nvPr/>
        </p:nvSpPr>
        <p:spPr>
          <a:xfrm>
            <a:off x="2446020" y="3072384"/>
            <a:ext cx="0" cy="256032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BC92ABB-07B9-46B8-A4AB-2DDB285AEB2D}"/>
              </a:ext>
            </a:extLst>
          </p:cNvPr>
          <p:cNvSpPr>
            <a:spLocks noGrp="1"/>
          </p:cNvSpPr>
          <p:nvPr/>
        </p:nvSpPr>
        <p:spPr>
          <a:xfrm>
            <a:off x="457200" y="3328416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3F40C96-B69D-4241-B0EE-846CD104C522}"/>
              </a:ext>
            </a:extLst>
          </p:cNvPr>
          <p:cNvSpPr>
            <a:spLocks noGrp="1"/>
          </p:cNvSpPr>
          <p:nvPr/>
        </p:nvSpPr>
        <p:spPr>
          <a:xfrm>
            <a:off x="512064" y="3364992"/>
            <a:ext cx="3867912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sz="105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Function Calling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sz="820">
                <a:solidFill>
                  <a:srgbClr val="5B6B7F"/>
                </a:solidFill>
                <a:latin typeface="Malgun Gothic"/>
                <a:ea typeface="Malgun Gothic"/>
                <a:cs typeface="Malgun Gothic"/>
              </a:rPr>
              <a:t>필요한 인자 추출 후 도구 실행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82B3B1B-FCB1-4F19-8A74-7062CBE997ED}"/>
              </a:ext>
            </a:extLst>
          </p:cNvPr>
          <p:cNvSpPr>
            <a:spLocks noGrp="1"/>
          </p:cNvSpPr>
          <p:nvPr/>
        </p:nvSpPr>
        <p:spPr>
          <a:xfrm>
            <a:off x="457200" y="4151376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E3F4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37B6924-6F0B-447C-A5EF-7D812E4FEC0A}"/>
              </a:ext>
            </a:extLst>
          </p:cNvPr>
          <p:cNvSpPr>
            <a:spLocks noGrp="1"/>
          </p:cNvSpPr>
          <p:nvPr/>
        </p:nvSpPr>
        <p:spPr>
          <a:xfrm>
            <a:off x="640080" y="4151376"/>
            <a:ext cx="36118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95000"/>
              </a:lnSpc>
              <a:buNone/>
            </a:pPr>
            <a:r>
              <a:rPr sz="100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오케스트레이션</a:t>
            </a:r>
          </a:p>
          <a:p>
            <a:pPr marL="0" indent="0">
              <a:lnSpc>
                <a:spcPct val="95000"/>
              </a:lnSpc>
              <a:buNone/>
            </a:pPr>
            <a:r>
              <a:rPr sz="900">
                <a:solidFill>
                  <a:srgbClr val="104A44"/>
                </a:solidFill>
                <a:latin typeface="Malgun Gothic"/>
                <a:ea typeface="Malgun Gothic"/>
                <a:cs typeface="Malgun Gothic"/>
              </a:rPr>
              <a:t>도구 결과를 다시 LLM 컨텍스트에 결합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068E5CD-11AD-4E42-AE44-B9AB8E2218DD}"/>
              </a:ext>
            </a:extLst>
          </p:cNvPr>
          <p:cNvSpPr>
            <a:spLocks noGrp="1"/>
          </p:cNvSpPr>
          <p:nvPr/>
        </p:nvSpPr>
        <p:spPr>
          <a:xfrm>
            <a:off x="4709160" y="128016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② 에이전트 호출 규칙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9DFF74F-5FBE-41AA-BDF1-1F934C56E692}"/>
              </a:ext>
            </a:extLst>
          </p:cNvPr>
          <p:cNvSpPr>
            <a:spLocks noGrp="1"/>
          </p:cNvSpPr>
          <p:nvPr/>
        </p:nvSpPr>
        <p:spPr>
          <a:xfrm>
            <a:off x="4727448" y="1700784"/>
            <a:ext cx="82296" cy="82296"/>
          </a:xfrm>
          <a:prstGeom prst="ellipse">
            <a:avLst/>
          </a:prstGeom>
          <a:solidFill>
            <a:srgbClr val="0D948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D295BB1-5430-4E52-84F4-3B4E95278D25}"/>
              </a:ext>
            </a:extLst>
          </p:cNvPr>
          <p:cNvSpPr>
            <a:spLocks noGrp="1"/>
          </p:cNvSpPr>
          <p:nvPr/>
        </p:nvSpPr>
        <p:spPr>
          <a:xfrm>
            <a:off x="4928616" y="1627632"/>
            <a:ext cx="3758184" cy="4023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98000"/>
              </a:lnSpc>
              <a:buNone/>
            </a:pPr>
            <a:r>
              <a:rPr sz="96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추천 질문이면 내부 검색 도구를 우선 호출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5D7DF9E-A902-4BDF-B76D-E9C8558B9F84}"/>
              </a:ext>
            </a:extLst>
          </p:cNvPr>
          <p:cNvSpPr>
            <a:spLocks noGrp="1"/>
          </p:cNvSpPr>
          <p:nvPr/>
        </p:nvSpPr>
        <p:spPr>
          <a:xfrm>
            <a:off x="4727448" y="2157984"/>
            <a:ext cx="82296" cy="82296"/>
          </a:xfrm>
          <a:prstGeom prst="ellipse">
            <a:avLst/>
          </a:prstGeom>
          <a:solidFill>
            <a:srgbClr val="0D948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2698F11-6350-4041-828E-E90CA2C8AC70}"/>
              </a:ext>
            </a:extLst>
          </p:cNvPr>
          <p:cNvSpPr>
            <a:spLocks noGrp="1"/>
          </p:cNvSpPr>
          <p:nvPr/>
        </p:nvSpPr>
        <p:spPr>
          <a:xfrm>
            <a:off x="4928616" y="2084832"/>
            <a:ext cx="3758184" cy="4023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98000"/>
              </a:lnSpc>
              <a:buNone/>
            </a:pPr>
            <a:r>
              <a:rPr sz="96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상세 정보가 부족하면 외부 도서 API로 보강</a:t>
            </a: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46FDEB3-3274-4C87-B7F6-ED4655F65B7C}"/>
              </a:ext>
            </a:extLst>
          </p:cNvPr>
          <p:cNvSpPr>
            <a:spLocks noGrp="1"/>
          </p:cNvSpPr>
          <p:nvPr/>
        </p:nvSpPr>
        <p:spPr>
          <a:xfrm>
            <a:off x="4727448" y="2615184"/>
            <a:ext cx="82296" cy="82296"/>
          </a:xfrm>
          <a:prstGeom prst="ellipse">
            <a:avLst/>
          </a:prstGeom>
          <a:solidFill>
            <a:srgbClr val="0D948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A77AC59-4A90-4354-8CB7-D23EAD94EAC9}"/>
              </a:ext>
            </a:extLst>
          </p:cNvPr>
          <p:cNvSpPr>
            <a:spLocks noGrp="1"/>
          </p:cNvSpPr>
          <p:nvPr/>
        </p:nvSpPr>
        <p:spPr>
          <a:xfrm>
            <a:off x="4928616" y="2542032"/>
            <a:ext cx="3758184" cy="4023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98000"/>
              </a:lnSpc>
              <a:buNone/>
            </a:pPr>
            <a:r>
              <a:rPr sz="96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도구 결과는 응답 근거로만 사용하고 후보를 재매핑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F9EF5A8-4088-4AEA-ADF0-312CC691BE5B}"/>
              </a:ext>
            </a:extLst>
          </p:cNvPr>
          <p:cNvSpPr>
            <a:spLocks noGrp="1"/>
          </p:cNvSpPr>
          <p:nvPr/>
        </p:nvSpPr>
        <p:spPr>
          <a:xfrm>
            <a:off x="4727448" y="3072384"/>
            <a:ext cx="82296" cy="82296"/>
          </a:xfrm>
          <a:prstGeom prst="ellipse">
            <a:avLst/>
          </a:prstGeom>
          <a:solidFill>
            <a:srgbClr val="0D948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38A79B9-0D06-435A-8D8D-D1DE45C7FF7C}"/>
              </a:ext>
            </a:extLst>
          </p:cNvPr>
          <p:cNvSpPr>
            <a:spLocks noGrp="1"/>
          </p:cNvSpPr>
          <p:nvPr/>
        </p:nvSpPr>
        <p:spPr>
          <a:xfrm>
            <a:off x="4928616" y="2999232"/>
            <a:ext cx="3758184" cy="4023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98000"/>
              </a:lnSpc>
              <a:buNone/>
            </a:pPr>
            <a:r>
              <a:rPr sz="96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실패 시 사용자에게 가능한 범위와 대안을 안내</a:t>
            </a: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82C8552-C271-4C96-A2C6-AE9679AA0269}"/>
              </a:ext>
            </a:extLst>
          </p:cNvPr>
          <p:cNvSpPr>
            <a:spLocks noGrp="1"/>
          </p:cNvSpPr>
          <p:nvPr/>
        </p:nvSpPr>
        <p:spPr>
          <a:xfrm>
            <a:off x="4727448" y="3529584"/>
            <a:ext cx="82296" cy="82296"/>
          </a:xfrm>
          <a:prstGeom prst="ellipse">
            <a:avLst/>
          </a:prstGeom>
          <a:solidFill>
            <a:srgbClr val="0D948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0C466E3-B1D5-42C0-8BDB-60CF2E2CD533}"/>
              </a:ext>
            </a:extLst>
          </p:cNvPr>
          <p:cNvSpPr>
            <a:spLocks noGrp="1"/>
          </p:cNvSpPr>
          <p:nvPr/>
        </p:nvSpPr>
        <p:spPr>
          <a:xfrm>
            <a:off x="4928616" y="3456432"/>
            <a:ext cx="3758184" cy="4023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98000"/>
              </a:lnSpc>
              <a:buNone/>
            </a:pPr>
            <a:r>
              <a:rPr sz="95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도구 호출 흐름은 로그로 남겨 디버깅 가능하게 설계</a:t>
            </a: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8BF98A8-02F7-4B0F-8A94-08C055FED5B6}"/>
              </a:ext>
            </a:extLst>
          </p:cNvPr>
          <p:cNvSpPr>
            <a:spLocks noGrp="1"/>
          </p:cNvSpPr>
          <p:nvPr/>
        </p:nvSpPr>
        <p:spPr>
          <a:xfrm>
            <a:off x="4709160" y="3968496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0F1B2E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AB48B70-37FA-4D02-96F2-10B46732DD81}"/>
              </a:ext>
            </a:extLst>
          </p:cNvPr>
          <p:cNvSpPr>
            <a:spLocks noGrp="1"/>
          </p:cNvSpPr>
          <p:nvPr/>
        </p:nvSpPr>
        <p:spPr>
          <a:xfrm>
            <a:off x="4855464" y="4059936"/>
            <a:ext cx="3703320" cy="7680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00000"/>
              </a:lnSpc>
              <a:buNone/>
            </a:pPr>
            <a:r>
              <a:rPr sz="800" dirty="0" err="1">
                <a:solidFill>
                  <a:srgbClr val="9FE9DF"/>
                </a:solidFill>
                <a:latin typeface="Consolas"/>
                <a:ea typeface="Consolas"/>
                <a:cs typeface="Consolas"/>
              </a:rPr>
              <a:t>ToolCall</a:t>
            </a:r>
            <a:r>
              <a:rPr sz="800" dirty="0">
                <a:solidFill>
                  <a:srgbClr val="9FE9DF"/>
                </a:solidFill>
                <a:latin typeface="Consolas"/>
                <a:ea typeface="Consolas"/>
                <a:cs typeface="Consolas"/>
              </a:rPr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sz="800" dirty="0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  name: "</a:t>
            </a:r>
            <a:r>
              <a:rPr sz="800" dirty="0" err="1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bookSearch</a:t>
            </a:r>
            <a:r>
              <a:rPr sz="800" dirty="0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",</a:t>
            </a:r>
          </a:p>
          <a:p>
            <a:pPr marL="0" indent="0">
              <a:lnSpc>
                <a:spcPct val="100000"/>
              </a:lnSpc>
              <a:buNone/>
            </a:pPr>
            <a:r>
              <a:rPr sz="800" dirty="0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800" dirty="0" err="1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args</a:t>
            </a:r>
            <a:r>
              <a:rPr sz="800" dirty="0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: { query, limit }</a:t>
            </a:r>
          </a:p>
          <a:p>
            <a:pPr marL="0" indent="0">
              <a:lnSpc>
                <a:spcPct val="100000"/>
              </a:lnSpc>
              <a:buNone/>
            </a:pPr>
            <a:r>
              <a:rPr sz="800" dirty="0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sz="800" dirty="0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→ RAG Context</a:t>
            </a: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C40C6B9-FFB0-4343-8F0F-5041D35862C2}"/>
              </a:ext>
            </a:extLst>
          </p:cNvPr>
          <p:cNvSpPr>
            <a:spLocks noGrp="1"/>
          </p:cNvSpPr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>
                <a:solidFill>
                  <a:srgbClr val="9AA7B5"/>
                </a:solidFill>
                <a:latin typeface="Malgun Gothic"/>
                <a:ea typeface="Malgun Gothic"/>
                <a:cs typeface="Malgun Gothic"/>
              </a:rPr>
              <a:t>Spring AI Library  ·  RAG·LLM 파트 보고서</a:t>
            </a: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FD7F674-5E36-4EAC-A8EA-2355F9185677}"/>
              </a:ext>
            </a:extLst>
          </p:cNvPr>
          <p:cNvSpPr>
            <a:spLocks noGrp="1"/>
          </p:cNvSpPr>
          <p:nvPr/>
        </p:nvSpPr>
        <p:spPr>
          <a:xfrm>
            <a:off x="8138160" y="485089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50">
                <a:solidFill>
                  <a:srgbClr val="9AA7B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49090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66A8AF-9E6D-4532-86C4-4FCE13C29D2D}"/>
              </a:ext>
            </a:extLst>
          </p:cNvPr>
          <p:cNvSpPr>
            <a:spLocks noGrp="1"/>
          </p:cNvSpPr>
          <p:nvPr/>
        </p:nvSpPr>
        <p:spPr>
          <a:xfrm>
            <a:off x="457200" y="310896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13047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7F1667-1DFD-48DC-B9D2-D5FF7D35820B}"/>
              </a:ext>
            </a:extLst>
          </p:cNvPr>
          <p:cNvSpPr>
            <a:spLocks noGrp="1"/>
          </p:cNvSpPr>
          <p:nvPr/>
        </p:nvSpPr>
        <p:spPr>
          <a:xfrm>
            <a:off x="457200" y="31089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60E776-2C82-4204-91D8-C7C73D4A3350}"/>
              </a:ext>
            </a:extLst>
          </p:cNvPr>
          <p:cNvSpPr>
            <a:spLocks noGrp="1"/>
          </p:cNvSpPr>
          <p:nvPr/>
        </p:nvSpPr>
        <p:spPr>
          <a:xfrm>
            <a:off x="1280160" y="310896"/>
            <a:ext cx="74066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수행 경과 (5) — 외부 도서 API 연동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359FB7B-B81C-4431-A929-757C404BF4CC}"/>
              </a:ext>
            </a:extLst>
          </p:cNvPr>
          <p:cNvSpPr>
            <a:spLocks noGrp="1"/>
          </p:cNvSpPr>
          <p:nvPr/>
        </p:nvSpPr>
        <p:spPr>
          <a:xfrm>
            <a:off x="1280160" y="722376"/>
            <a:ext cx="7406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0D9488"/>
                </a:solidFill>
                <a:latin typeface="Malgun Gothic"/>
                <a:ea typeface="Malgun Gothic"/>
                <a:cs typeface="Malgun Gothic"/>
              </a:rPr>
              <a:t>▶  내부 데이터만으로 부족한 도서 정보를 외부 API로 보강해 추천 응답의 완성도를 높임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3F78BDC-0A79-4692-891D-618BC900FE65}"/>
              </a:ext>
            </a:extLst>
          </p:cNvPr>
          <p:cNvSpPr>
            <a:spLocks noGrp="1"/>
          </p:cNvSpPr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94F031C-5DE4-4CCD-ADA5-719E3E77891C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18745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D304B0F-DC08-4076-B58D-5A12B016FDFD}"/>
              </a:ext>
            </a:extLst>
          </p:cNvPr>
          <p:cNvSpPr>
            <a:spLocks noGrp="1"/>
          </p:cNvSpPr>
          <p:nvPr/>
        </p:nvSpPr>
        <p:spPr>
          <a:xfrm>
            <a:off x="512064" y="1408176"/>
            <a:ext cx="1764792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sz="105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요청 파라미터 구성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sz="820">
                <a:solidFill>
                  <a:srgbClr val="5B6B7F"/>
                </a:solidFill>
                <a:latin typeface="Malgun Gothic"/>
                <a:ea typeface="Malgun Gothic"/>
                <a:cs typeface="Malgun Gothic"/>
              </a:rPr>
              <a:t>query / isbn / title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B20D750-87DE-4D80-A6EE-7F32F755A504}"/>
              </a:ext>
            </a:extLst>
          </p:cNvPr>
          <p:cNvSpPr>
            <a:spLocks noGrp="1"/>
          </p:cNvSpPr>
          <p:nvPr/>
        </p:nvSpPr>
        <p:spPr>
          <a:xfrm>
            <a:off x="2788920" y="1371600"/>
            <a:ext cx="1874520" cy="731520"/>
          </a:xfrm>
          <a:prstGeom prst="roundRect">
            <a:avLst>
              <a:gd name="adj" fmla="val 7500"/>
            </a:avLst>
          </a:prstGeom>
          <a:solidFill>
            <a:srgbClr val="E3F4F1"/>
          </a:solidFill>
          <a:ln w="17780">
            <a:solidFill>
              <a:srgbClr val="0D948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8A3D9EB-6592-4766-8338-8FB53D83887F}"/>
              </a:ext>
            </a:extLst>
          </p:cNvPr>
          <p:cNvSpPr>
            <a:spLocks noGrp="1"/>
          </p:cNvSpPr>
          <p:nvPr/>
        </p:nvSpPr>
        <p:spPr>
          <a:xfrm>
            <a:off x="2843784" y="1408176"/>
            <a:ext cx="1764792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sz="105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외부 도서 API 호출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sz="820">
                <a:solidFill>
                  <a:srgbClr val="5B6B7F"/>
                </a:solidFill>
                <a:latin typeface="Malgun Gothic"/>
                <a:ea typeface="Malgun Gothic"/>
                <a:cs typeface="Malgun Gothic"/>
              </a:rPr>
              <a:t>검색·상세 정보 조회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BA585D5-4C53-4752-A6F7-96F48D499CAA}"/>
              </a:ext>
            </a:extLst>
          </p:cNvPr>
          <p:cNvSpPr>
            <a:spLocks noGrp="1"/>
          </p:cNvSpPr>
          <p:nvPr/>
        </p:nvSpPr>
        <p:spPr>
          <a:xfrm>
            <a:off x="2368296" y="1737360"/>
            <a:ext cx="384048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82E14B8-E206-431C-B39C-1819F4AE9342}"/>
              </a:ext>
            </a:extLst>
          </p:cNvPr>
          <p:cNvSpPr>
            <a:spLocks noGrp="1"/>
          </p:cNvSpPr>
          <p:nvPr/>
        </p:nvSpPr>
        <p:spPr>
          <a:xfrm>
            <a:off x="5120640" y="1371600"/>
            <a:ext cx="1874520" cy="731520"/>
          </a:xfrm>
          <a:prstGeom prst="roundRect">
            <a:avLst>
              <a:gd name="adj" fmla="val 7500"/>
            </a:avLst>
          </a:prstGeom>
          <a:solidFill>
            <a:srgbClr val="213047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65B6BFD-C251-4AAC-93A7-AED0D4D6C48E}"/>
              </a:ext>
            </a:extLst>
          </p:cNvPr>
          <p:cNvSpPr>
            <a:spLocks noGrp="1"/>
          </p:cNvSpPr>
          <p:nvPr/>
        </p:nvSpPr>
        <p:spPr>
          <a:xfrm>
            <a:off x="5120640" y="1371600"/>
            <a:ext cx="18745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응답 매핑 성공?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4040B1A-621F-4D53-A406-3C45FA0AC723}"/>
              </a:ext>
            </a:extLst>
          </p:cNvPr>
          <p:cNvSpPr>
            <a:spLocks noGrp="1"/>
          </p:cNvSpPr>
          <p:nvPr/>
        </p:nvSpPr>
        <p:spPr>
          <a:xfrm>
            <a:off x="4736592" y="1737360"/>
            <a:ext cx="347472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3A23E4F-DC7E-4B57-82AA-3DBCEA9487EC}"/>
              </a:ext>
            </a:extLst>
          </p:cNvPr>
          <p:cNvSpPr>
            <a:spLocks noGrp="1"/>
          </p:cNvSpPr>
          <p:nvPr/>
        </p:nvSpPr>
        <p:spPr>
          <a:xfrm>
            <a:off x="6057900" y="2121408"/>
            <a:ext cx="0" cy="292608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796C958-BE09-4164-A78C-F313A665EC20}"/>
              </a:ext>
            </a:extLst>
          </p:cNvPr>
          <p:cNvSpPr>
            <a:spLocks noGrp="1"/>
          </p:cNvSpPr>
          <p:nvPr/>
        </p:nvSpPr>
        <p:spPr>
          <a:xfrm>
            <a:off x="2080260" y="2414016"/>
            <a:ext cx="397764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F886224-70F1-4209-B503-A86E4170BB86}"/>
              </a:ext>
            </a:extLst>
          </p:cNvPr>
          <p:cNvSpPr>
            <a:spLocks noGrp="1"/>
          </p:cNvSpPr>
          <p:nvPr/>
        </p:nvSpPr>
        <p:spPr>
          <a:xfrm>
            <a:off x="2080260" y="2414016"/>
            <a:ext cx="0" cy="27432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78CCE8D-B810-4108-9683-E47AB113358B}"/>
              </a:ext>
            </a:extLst>
          </p:cNvPr>
          <p:cNvSpPr>
            <a:spLocks noGrp="1"/>
          </p:cNvSpPr>
          <p:nvPr/>
        </p:nvSpPr>
        <p:spPr>
          <a:xfrm>
            <a:off x="6057900" y="2414016"/>
            <a:ext cx="0" cy="27432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130E4DE-B062-460F-847C-E39079395DD4}"/>
              </a:ext>
            </a:extLst>
          </p:cNvPr>
          <p:cNvSpPr>
            <a:spLocks noGrp="1"/>
          </p:cNvSpPr>
          <p:nvPr/>
        </p:nvSpPr>
        <p:spPr>
          <a:xfrm>
            <a:off x="480060" y="2368296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5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예 (도서 매칭)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B77FB04-459F-408A-84CA-F3B4CA8411C2}"/>
              </a:ext>
            </a:extLst>
          </p:cNvPr>
          <p:cNvSpPr>
            <a:spLocks noGrp="1"/>
          </p:cNvSpPr>
          <p:nvPr/>
        </p:nvSpPr>
        <p:spPr>
          <a:xfrm>
            <a:off x="6204204" y="2368296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850" b="1">
                <a:solidFill>
                  <a:srgbClr val="5B6B7F"/>
                </a:solidFill>
                <a:latin typeface="Malgun Gothic"/>
                <a:ea typeface="Malgun Gothic"/>
                <a:cs typeface="Malgun Gothic"/>
              </a:rPr>
              <a:t>아니오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024DD4F-A748-4B51-B7CF-1ABE09C49D82}"/>
              </a:ext>
            </a:extLst>
          </p:cNvPr>
          <p:cNvSpPr>
            <a:spLocks noGrp="1"/>
          </p:cNvSpPr>
          <p:nvPr/>
        </p:nvSpPr>
        <p:spPr>
          <a:xfrm>
            <a:off x="548640" y="2688336"/>
            <a:ext cx="3063240" cy="804672"/>
          </a:xfrm>
          <a:prstGeom prst="roundRect">
            <a:avLst>
              <a:gd name="adj" fmla="val 7955"/>
            </a:avLst>
          </a:prstGeom>
          <a:solidFill>
            <a:srgbClr val="E3F4F1"/>
          </a:solidFill>
          <a:ln w="1651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3B6A0A5-B18C-4028-A2A7-2083A15CFFE3}"/>
              </a:ext>
            </a:extLst>
          </p:cNvPr>
          <p:cNvSpPr>
            <a:spLocks noGrp="1"/>
          </p:cNvSpPr>
          <p:nvPr/>
        </p:nvSpPr>
        <p:spPr>
          <a:xfrm>
            <a:off x="731520" y="2688336"/>
            <a:ext cx="2743200" cy="8046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95000"/>
              </a:lnSpc>
              <a:buNone/>
            </a:pPr>
            <a:r>
              <a:rPr sz="120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MATCH → 내부 후보와 병합 후 RAG 컨텍스트 보강</a:t>
            </a: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3E7A2B6-6E44-4C63-A802-E3DA4296DC2A}"/>
              </a:ext>
            </a:extLst>
          </p:cNvPr>
          <p:cNvSpPr>
            <a:spLocks noGrp="1"/>
          </p:cNvSpPr>
          <p:nvPr/>
        </p:nvSpPr>
        <p:spPr>
          <a:xfrm>
            <a:off x="4265676" y="2688336"/>
            <a:ext cx="3584448" cy="804672"/>
          </a:xfrm>
          <a:prstGeom prst="roundRect">
            <a:avLst>
              <a:gd name="adj" fmla="val 7955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5B27FCD-37E8-4616-A41C-AD84B58B2218}"/>
              </a:ext>
            </a:extLst>
          </p:cNvPr>
          <p:cNvSpPr>
            <a:spLocks noGrp="1"/>
          </p:cNvSpPr>
          <p:nvPr/>
        </p:nvSpPr>
        <p:spPr>
          <a:xfrm>
            <a:off x="4448556" y="2688336"/>
            <a:ext cx="3264408" cy="8046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95000"/>
              </a:lnSpc>
              <a:buNone/>
            </a:pPr>
            <a:r>
              <a:rPr sz="120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MISS → 내부 검색 결과만으로 응답하고 부족한 정보 명시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852B7B2-95B4-4E77-A0B0-2542E2F3D135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4206240" cy="932688"/>
          </a:xfrm>
          <a:prstGeom prst="roundRect">
            <a:avLst>
              <a:gd name="adj" fmla="val 5882"/>
            </a:avLst>
          </a:prstGeom>
          <a:solidFill>
            <a:srgbClr val="0F1B2E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7B5D2D0-5E8B-48BF-9F42-DB24065859A2}"/>
              </a:ext>
            </a:extLst>
          </p:cNvPr>
          <p:cNvSpPr>
            <a:spLocks noGrp="1"/>
          </p:cNvSpPr>
          <p:nvPr/>
        </p:nvSpPr>
        <p:spPr>
          <a:xfrm>
            <a:off x="603504" y="3822192"/>
            <a:ext cx="3931920" cy="7863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00000"/>
              </a:lnSpc>
              <a:buNone/>
            </a:pPr>
            <a:r>
              <a:rPr sz="800" dirty="0" err="1">
                <a:solidFill>
                  <a:srgbClr val="6FBFB6"/>
                </a:solidFill>
                <a:latin typeface="Consolas"/>
                <a:ea typeface="Consolas"/>
                <a:cs typeface="Consolas"/>
              </a:rPr>
              <a:t>ExternalBookResult</a:t>
            </a:r>
            <a:r>
              <a:rPr sz="800" dirty="0">
                <a:solidFill>
                  <a:srgbClr val="6FBFB6"/>
                </a:solidFill>
                <a:latin typeface="Consolas"/>
                <a:ea typeface="Consolas"/>
                <a:cs typeface="Consolas"/>
              </a:rPr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sz="820" dirty="0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  title, author, </a:t>
            </a:r>
            <a:r>
              <a:rPr sz="820" dirty="0" err="1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isbn</a:t>
            </a:r>
            <a:r>
              <a:rPr sz="820" dirty="0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sz="800" dirty="0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  publisher, description</a:t>
            </a:r>
          </a:p>
          <a:p>
            <a:pPr marL="0" indent="0">
              <a:lnSpc>
                <a:spcPct val="100000"/>
              </a:lnSpc>
              <a:buNone/>
            </a:pPr>
            <a:r>
              <a:rPr sz="820" dirty="0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sz="820" dirty="0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→ </a:t>
            </a:r>
            <a:r>
              <a:rPr sz="820" dirty="0" err="1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RagBookCandidate</a:t>
            </a:r>
            <a:r>
              <a:rPr sz="820" dirty="0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20" dirty="0" err="1">
                <a:solidFill>
                  <a:srgbClr val="E6EEF7"/>
                </a:solidFill>
                <a:latin typeface="Consolas"/>
                <a:ea typeface="Consolas"/>
                <a:cs typeface="Consolas"/>
              </a:rPr>
              <a:t>보강</a:t>
            </a:r>
            <a:endParaRPr sz="820" dirty="0">
              <a:solidFill>
                <a:srgbClr val="E6EEF7"/>
              </a:solidFill>
              <a:latin typeface="Consolas"/>
              <a:ea typeface="Consolas"/>
              <a:cs typeface="Consolas"/>
            </a:endParaRPr>
          </a:p>
        </p:txBody>
      </p:sp>
      <p:pic>
        <p:nvPicPr>
          <p:cNvPr id="6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767328"/>
            <a:ext cx="182880" cy="182880"/>
          </a:xfrm>
          <a:prstGeom prst="rect">
            <a:avLst/>
          </a:prstGeom>
        </p:spPr>
      </p:pic>
      <p:sp>
        <p:nvSpPr>
          <p:cNvPr id="28" name="Text 25">
            <a:extLst>
              <a:ext uri="{FF2B5EF4-FFF2-40B4-BE49-F238E27FC236}">
                <a16:creationId xmlns:a16="http://schemas.microsoft.com/office/drawing/2014/main" id="{DACCECD6-B8C4-4577-A0F5-3EFCD78854D6}"/>
              </a:ext>
            </a:extLst>
          </p:cNvPr>
          <p:cNvSpPr>
            <a:spLocks noGrp="1"/>
          </p:cNvSpPr>
          <p:nvPr/>
        </p:nvSpPr>
        <p:spPr>
          <a:xfrm>
            <a:off x="5102352" y="3721608"/>
            <a:ext cx="358444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5000"/>
              </a:lnSpc>
              <a:buNone/>
            </a:pPr>
            <a:r>
              <a:rPr sz="100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데이터 정규화  </a:t>
            </a:r>
          </a:p>
          <a:p>
            <a:pPr marL="0" indent="0">
              <a:lnSpc>
                <a:spcPct val="95000"/>
              </a:lnSpc>
              <a:buNone/>
            </a:pPr>
            <a:r>
              <a:rPr sz="90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ISBN·제목 기준으로 내부 도서와 매칭</a:t>
            </a:r>
          </a:p>
        </p:txBody>
      </p:sp>
      <p:pic>
        <p:nvPicPr>
          <p:cNvPr id="65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087368"/>
            <a:ext cx="182880" cy="182880"/>
          </a:xfrm>
          <a:prstGeom prst="rect">
            <a:avLst/>
          </a:prstGeom>
        </p:spPr>
      </p:pic>
      <p:sp>
        <p:nvSpPr>
          <p:cNvPr id="30" name="Text 26">
            <a:extLst>
              <a:ext uri="{FF2B5EF4-FFF2-40B4-BE49-F238E27FC236}">
                <a16:creationId xmlns:a16="http://schemas.microsoft.com/office/drawing/2014/main" id="{A98302BB-EC75-4CCF-8B39-74EFC9F4EDEA}"/>
              </a:ext>
            </a:extLst>
          </p:cNvPr>
          <p:cNvSpPr>
            <a:spLocks noGrp="1"/>
          </p:cNvSpPr>
          <p:nvPr/>
        </p:nvSpPr>
        <p:spPr>
          <a:xfrm>
            <a:off x="5102352" y="4041648"/>
            <a:ext cx="358444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5000"/>
              </a:lnSpc>
              <a:buNone/>
            </a:pPr>
            <a:r>
              <a:rPr sz="100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실패 처리  </a:t>
            </a:r>
          </a:p>
          <a:p>
            <a:pPr>
              <a:lnSpc>
                <a:spcPct val="95000"/>
              </a:lnSpc>
              <a:buNone/>
            </a:pPr>
            <a:r>
              <a:rPr sz="90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API 오류·무응답 시 기본 검색 결과 유지</a:t>
            </a:r>
          </a:p>
        </p:txBody>
      </p:sp>
      <p:pic>
        <p:nvPicPr>
          <p:cNvPr id="67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407408"/>
            <a:ext cx="182880" cy="182880"/>
          </a:xfrm>
          <a:prstGeom prst="rect">
            <a:avLst/>
          </a:prstGeom>
        </p:spPr>
      </p:pic>
      <p:sp>
        <p:nvSpPr>
          <p:cNvPr id="32" name="Text 27">
            <a:extLst>
              <a:ext uri="{FF2B5EF4-FFF2-40B4-BE49-F238E27FC236}">
                <a16:creationId xmlns:a16="http://schemas.microsoft.com/office/drawing/2014/main" id="{1FA2E58B-288C-4367-BA97-D9E83B939F94}"/>
              </a:ext>
            </a:extLst>
          </p:cNvPr>
          <p:cNvSpPr>
            <a:spLocks noGrp="1"/>
          </p:cNvSpPr>
          <p:nvPr/>
        </p:nvSpPr>
        <p:spPr>
          <a:xfrm>
            <a:off x="5102352" y="4361688"/>
            <a:ext cx="358444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5000"/>
              </a:lnSpc>
              <a:buNone/>
            </a:pPr>
            <a:r>
              <a:rPr sz="100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응답 품질  </a:t>
            </a:r>
          </a:p>
          <a:p>
            <a:pPr>
              <a:lnSpc>
                <a:spcPct val="95000"/>
              </a:lnSpc>
              <a:buNone/>
            </a:pPr>
            <a:r>
              <a:rPr sz="90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설명·출판 정보 보강으로 추천 이유 구체화</a:t>
            </a:r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9C2B32E2-8A5B-4511-BEDA-B30BC44D1CBD}"/>
              </a:ext>
            </a:extLst>
          </p:cNvPr>
          <p:cNvSpPr>
            <a:spLocks noGrp="1"/>
          </p:cNvSpPr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>
                <a:solidFill>
                  <a:srgbClr val="9AA7B5"/>
                </a:solidFill>
                <a:latin typeface="Malgun Gothic"/>
                <a:ea typeface="Malgun Gothic"/>
                <a:cs typeface="Malgun Gothic"/>
              </a:rPr>
              <a:t>Spring AI Library  ·  RAG·LLM 파트 보고서</a:t>
            </a:r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D32ABC60-B11A-472A-BF94-AB7F6BDEB462}"/>
              </a:ext>
            </a:extLst>
          </p:cNvPr>
          <p:cNvSpPr>
            <a:spLocks noGrp="1"/>
          </p:cNvSpPr>
          <p:nvPr/>
        </p:nvSpPr>
        <p:spPr>
          <a:xfrm>
            <a:off x="8138160" y="485089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50">
                <a:solidFill>
                  <a:srgbClr val="9AA7B5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05480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AB0E9E-AC64-4318-B4ED-DD47EE68840F}"/>
              </a:ext>
            </a:extLst>
          </p:cNvPr>
          <p:cNvSpPr>
            <a:spLocks noGrp="1"/>
          </p:cNvSpPr>
          <p:nvPr/>
        </p:nvSpPr>
        <p:spPr>
          <a:xfrm>
            <a:off x="457200" y="310896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13047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0D475A-4A07-49F9-BC79-0D5214346683}"/>
              </a:ext>
            </a:extLst>
          </p:cNvPr>
          <p:cNvSpPr>
            <a:spLocks noGrp="1"/>
          </p:cNvSpPr>
          <p:nvPr/>
        </p:nvSpPr>
        <p:spPr>
          <a:xfrm>
            <a:off x="457200" y="31089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5A816C-A81F-4430-9350-08F2AB2CEAAA}"/>
              </a:ext>
            </a:extLst>
          </p:cNvPr>
          <p:cNvSpPr>
            <a:spLocks noGrp="1"/>
          </p:cNvSpPr>
          <p:nvPr/>
        </p:nvSpPr>
        <p:spPr>
          <a:xfrm>
            <a:off x="1280160" y="310896"/>
            <a:ext cx="74066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213047"/>
                </a:solidFill>
                <a:latin typeface="Malgun Gothic"/>
                <a:ea typeface="Malgun Gothic"/>
                <a:cs typeface="Malgun Gothic"/>
              </a:rPr>
              <a:t>사후 평가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962BF18-2EB4-43E1-BC02-CB0EB4445334}"/>
              </a:ext>
            </a:extLst>
          </p:cNvPr>
          <p:cNvSpPr>
            <a:spLocks noGrp="1"/>
          </p:cNvSpPr>
          <p:nvPr/>
        </p:nvSpPr>
        <p:spPr>
          <a:xfrm>
            <a:off x="1280160" y="722376"/>
            <a:ext cx="7406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41C1817-D3CA-4410-A5AE-36C85C0A32DE}"/>
              </a:ext>
            </a:extLst>
          </p:cNvPr>
          <p:cNvSpPr>
            <a:spLocks noGrp="1"/>
          </p:cNvSpPr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132C7F0-5316-40CE-BBD0-220B4DC806A6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63040"/>
            <a:ext cx="237744" cy="237744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F29DDDF0-DA54-487C-A9B4-235CB965C48E}"/>
              </a:ext>
            </a:extLst>
          </p:cNvPr>
          <p:cNvSpPr>
            <a:spLocks noGrp="1"/>
          </p:cNvSpPr>
          <p:nvPr/>
        </p:nvSpPr>
        <p:spPr>
          <a:xfrm>
            <a:off x="969264" y="1426464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성과 · 잘된 점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4E07EB2-D9F9-4F4B-AD1A-DF381F09348A}"/>
              </a:ext>
            </a:extLst>
          </p:cNvPr>
          <p:cNvSpPr>
            <a:spLocks noGrp="1"/>
          </p:cNvSpPr>
          <p:nvPr/>
        </p:nvSpPr>
        <p:spPr>
          <a:xfrm>
            <a:off x="713232" y="1847088"/>
            <a:ext cx="3520440" cy="2560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검색 후보를 LLM 컨텍스트로 변환하는 RAG 파이프라인을 담당 범위로 명확히 분리</a:t>
            </a:r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ContextBuilder에서 도서 설명·검색 점수·리뷰 신호를 구조화해 프롬프트 입력 품질 개선</a:t>
            </a:r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ChatModel 응답을 후보 목록 안으로 제한해 근거 없는 추천을 줄이는 규칙 설계</a:t>
            </a:r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Function Calling으로 검색·상세조회·외부 API를 자연어 흐름에서 호출하도록 연결</a:t>
            </a:r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내부 데이터가 부족한 경우 외부 도서 API로 설명·식별자 정보를 보강하는 경로 마련</a:t>
            </a:r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A37"/>
                </a:solidFill>
                <a:latin typeface="Malgun Gothic"/>
                <a:ea typeface="Malgun Gothic"/>
                <a:cs typeface="Malgun Gothic"/>
              </a:rPr>
              <a:t>검색·개인화·리뷰 파트와 결합 가능한 RAG/에이전트 인터페이스를 정리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3B3CDF2-C11A-472C-B8BE-ED20AFF26CC7}"/>
              </a:ext>
            </a:extLst>
          </p:cNvPr>
          <p:cNvSpPr>
            <a:spLocks noGrp="1"/>
          </p:cNvSpPr>
          <p:nvPr/>
        </p:nvSpPr>
        <p:spPr>
          <a:xfrm>
            <a:off x="4709160" y="1298448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BF3E9"/>
          </a:solidFill>
          <a:ln w="12700">
            <a:solidFill>
              <a:srgbClr val="EBD9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463040"/>
            <a:ext cx="237744" cy="237744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20D858E4-5650-4A1F-B68F-3CCDA4880FB2}"/>
              </a:ext>
            </a:extLst>
          </p:cNvPr>
          <p:cNvSpPr>
            <a:spLocks noGrp="1"/>
          </p:cNvSpPr>
          <p:nvPr/>
        </p:nvSpPr>
        <p:spPr>
          <a:xfrm>
            <a:off x="5221224" y="1426464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B5731F"/>
                </a:solidFill>
                <a:latin typeface="Malgun Gothic"/>
                <a:ea typeface="Malgun Gothic"/>
                <a:cs typeface="Malgun Gothic"/>
              </a:rPr>
              <a:t>한계 · 아쉬운 점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B3B42C25-8E2C-4516-A59F-4AC75C44D303}"/>
              </a:ext>
            </a:extLst>
          </p:cNvPr>
          <p:cNvSpPr>
            <a:spLocks noGrp="1"/>
          </p:cNvSpPr>
          <p:nvPr/>
        </p:nvSpPr>
        <p:spPr>
          <a:xfrm>
            <a:off x="4965192" y="1847088"/>
            <a:ext cx="3520440" cy="2560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sz="950">
                <a:solidFill>
                  <a:srgbClr val="5A4327"/>
                </a:solidFill>
                <a:latin typeface="Malgun Gothic"/>
                <a:ea typeface="Malgun Gothic"/>
                <a:cs typeface="Malgun Gothic"/>
              </a:rPr>
              <a:t>모델 응답 품질을 정량 측정하는 평가 데이터셋과 기준이 아직 부족</a:t>
            </a:r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sz="950">
                <a:solidFill>
                  <a:srgbClr val="5A4327"/>
                </a:solidFill>
                <a:latin typeface="Malgun Gothic"/>
                <a:ea typeface="Malgun Gothic"/>
                <a:cs typeface="Malgun Gothic"/>
              </a:rPr>
              <a:t>도구 호출 실패·외부 API 장애에 대한 재시도/백오프 정책 고도화 필요</a:t>
            </a:r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sz="950">
                <a:solidFill>
                  <a:srgbClr val="5A4327"/>
                </a:solidFill>
                <a:latin typeface="Malgun Gothic"/>
                <a:ea typeface="Malgun Gothic"/>
                <a:cs typeface="Malgun Gothic"/>
              </a:rPr>
              <a:t>프롬프트가 길어질 때 컨텍스트 압축과 토큰 비용 최적화가 추가 과제</a:t>
            </a:r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sz="950">
                <a:solidFill>
                  <a:srgbClr val="5A4327"/>
                </a:solidFill>
                <a:latin typeface="Malgun Gothic"/>
                <a:ea typeface="Malgun Gothic"/>
                <a:cs typeface="Malgun Gothic"/>
              </a:rPr>
              <a:t>Function Calling 도구가 늘어날수록 도구 선택 우선순위와 로그 관리가 중요</a:t>
            </a:r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sz="950">
                <a:solidFill>
                  <a:srgbClr val="5A4327"/>
                </a:solidFill>
                <a:latin typeface="Malgun Gothic"/>
                <a:ea typeface="Malgun Gothic"/>
                <a:cs typeface="Malgun Gothic"/>
              </a:rPr>
              <a:t>외부 API 응답과 내부 도서 데이터의 중복/불일치 해소 규칙을 더 정교화해야 함</a:t>
            </a: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2B5FB887-3AAC-4AA6-A22D-2F3FC3D96A47}"/>
              </a:ext>
            </a:extLst>
          </p:cNvPr>
          <p:cNvSpPr>
            <a:spLocks noGrp="1"/>
          </p:cNvSpPr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>
                <a:solidFill>
                  <a:srgbClr val="9AA7B5"/>
                </a:solidFill>
                <a:latin typeface="Malgun Gothic"/>
                <a:ea typeface="Malgun Gothic"/>
                <a:cs typeface="Malgun Gothic"/>
              </a:rPr>
              <a:t>Spring AI Library  ·  RAG·LLM 파트 보고서</a:t>
            </a: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349958F2-717F-404B-8C16-0DEFF5087F73}"/>
              </a:ext>
            </a:extLst>
          </p:cNvPr>
          <p:cNvSpPr>
            <a:spLocks noGrp="1"/>
          </p:cNvSpPr>
          <p:nvPr/>
        </p:nvSpPr>
        <p:spPr>
          <a:xfrm>
            <a:off x="8138160" y="485089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50">
                <a:solidFill>
                  <a:srgbClr val="9AA7B5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39836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05C277-36E3-4863-8135-ECBBD29C36FB}"/>
              </a:ext>
            </a:extLst>
          </p:cNvPr>
          <p:cNvSpPr>
            <a:spLocks noGrp="1"/>
          </p:cNvSpPr>
          <p:nvPr/>
        </p:nvSpPr>
        <p:spPr>
          <a:xfrm>
            <a:off x="6903720" y="4160520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F9D24A8-AE96-47A5-B768-FD1403074671}"/>
              </a:ext>
            </a:extLst>
          </p:cNvPr>
          <p:cNvSpPr>
            <a:spLocks noGrp="1"/>
          </p:cNvSpPr>
          <p:nvPr/>
        </p:nvSpPr>
        <p:spPr>
          <a:xfrm>
            <a:off x="7141464" y="4160520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370A74-1B82-428D-AA2E-C7707FAB12B7}"/>
              </a:ext>
            </a:extLst>
          </p:cNvPr>
          <p:cNvSpPr>
            <a:spLocks noGrp="1"/>
          </p:cNvSpPr>
          <p:nvPr/>
        </p:nvSpPr>
        <p:spPr>
          <a:xfrm>
            <a:off x="7379208" y="4160520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D0370D0-DFBC-4311-86F4-A9AA31FF599B}"/>
              </a:ext>
            </a:extLst>
          </p:cNvPr>
          <p:cNvSpPr>
            <a:spLocks noGrp="1"/>
          </p:cNvSpPr>
          <p:nvPr/>
        </p:nvSpPr>
        <p:spPr>
          <a:xfrm>
            <a:off x="7616952" y="4160520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9EED89D-5462-4769-932A-D07FDAE92E70}"/>
              </a:ext>
            </a:extLst>
          </p:cNvPr>
          <p:cNvSpPr>
            <a:spLocks noGrp="1"/>
          </p:cNvSpPr>
          <p:nvPr/>
        </p:nvSpPr>
        <p:spPr>
          <a:xfrm>
            <a:off x="7854696" y="4160520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66A8420-015B-4A6D-AD81-A7ABA2C08A85}"/>
              </a:ext>
            </a:extLst>
          </p:cNvPr>
          <p:cNvSpPr>
            <a:spLocks noGrp="1"/>
          </p:cNvSpPr>
          <p:nvPr/>
        </p:nvSpPr>
        <p:spPr>
          <a:xfrm>
            <a:off x="8092440" y="4160520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1C93F33-B8C7-473A-8003-AF4766172802}"/>
              </a:ext>
            </a:extLst>
          </p:cNvPr>
          <p:cNvSpPr>
            <a:spLocks noGrp="1"/>
          </p:cNvSpPr>
          <p:nvPr/>
        </p:nvSpPr>
        <p:spPr>
          <a:xfrm>
            <a:off x="8330184" y="4160520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D07FFC1-BC3F-40D7-97D3-F38D641D4EE1}"/>
              </a:ext>
            </a:extLst>
          </p:cNvPr>
          <p:cNvSpPr>
            <a:spLocks noGrp="1"/>
          </p:cNvSpPr>
          <p:nvPr/>
        </p:nvSpPr>
        <p:spPr>
          <a:xfrm>
            <a:off x="8567928" y="4160520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C466671-959B-4B32-9E80-0BFE32CDA3A1}"/>
              </a:ext>
            </a:extLst>
          </p:cNvPr>
          <p:cNvSpPr>
            <a:spLocks noGrp="1"/>
          </p:cNvSpPr>
          <p:nvPr/>
        </p:nvSpPr>
        <p:spPr>
          <a:xfrm>
            <a:off x="8805672" y="4160520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11DB55B-2F1C-4793-915E-68842564F9AA}"/>
              </a:ext>
            </a:extLst>
          </p:cNvPr>
          <p:cNvSpPr>
            <a:spLocks noGrp="1"/>
          </p:cNvSpPr>
          <p:nvPr/>
        </p:nvSpPr>
        <p:spPr>
          <a:xfrm>
            <a:off x="6903720" y="4398264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037AE29-E46D-4719-B930-A97744FED372}"/>
              </a:ext>
            </a:extLst>
          </p:cNvPr>
          <p:cNvSpPr>
            <a:spLocks noGrp="1"/>
          </p:cNvSpPr>
          <p:nvPr/>
        </p:nvSpPr>
        <p:spPr>
          <a:xfrm>
            <a:off x="7141464" y="4398264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A96770B-827D-4FCD-A810-DF4F6447B3DC}"/>
              </a:ext>
            </a:extLst>
          </p:cNvPr>
          <p:cNvSpPr>
            <a:spLocks noGrp="1"/>
          </p:cNvSpPr>
          <p:nvPr/>
        </p:nvSpPr>
        <p:spPr>
          <a:xfrm>
            <a:off x="7379208" y="4398264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A0FF24B-6C50-49CD-84C4-F35419C25291}"/>
              </a:ext>
            </a:extLst>
          </p:cNvPr>
          <p:cNvSpPr>
            <a:spLocks noGrp="1"/>
          </p:cNvSpPr>
          <p:nvPr/>
        </p:nvSpPr>
        <p:spPr>
          <a:xfrm>
            <a:off x="7616952" y="4398264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5DEA96B-A6DA-48FE-9469-F6751D872C22}"/>
              </a:ext>
            </a:extLst>
          </p:cNvPr>
          <p:cNvSpPr>
            <a:spLocks noGrp="1"/>
          </p:cNvSpPr>
          <p:nvPr/>
        </p:nvSpPr>
        <p:spPr>
          <a:xfrm>
            <a:off x="7854696" y="4398264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49596CE-4A24-44B6-A921-0BCFA28A6ACA}"/>
              </a:ext>
            </a:extLst>
          </p:cNvPr>
          <p:cNvSpPr>
            <a:spLocks noGrp="1"/>
          </p:cNvSpPr>
          <p:nvPr/>
        </p:nvSpPr>
        <p:spPr>
          <a:xfrm>
            <a:off x="8092440" y="4398264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2AAE5EE-F563-42CC-9B8A-362E7770A58D}"/>
              </a:ext>
            </a:extLst>
          </p:cNvPr>
          <p:cNvSpPr>
            <a:spLocks noGrp="1"/>
          </p:cNvSpPr>
          <p:nvPr/>
        </p:nvSpPr>
        <p:spPr>
          <a:xfrm>
            <a:off x="8330184" y="4398264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D359022-9FE1-461C-9E0E-01E265BCBC9D}"/>
              </a:ext>
            </a:extLst>
          </p:cNvPr>
          <p:cNvSpPr>
            <a:spLocks noGrp="1"/>
          </p:cNvSpPr>
          <p:nvPr/>
        </p:nvSpPr>
        <p:spPr>
          <a:xfrm>
            <a:off x="8567928" y="4398264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3D02E53-1590-43A7-B694-59B3C593BFA7}"/>
              </a:ext>
            </a:extLst>
          </p:cNvPr>
          <p:cNvSpPr>
            <a:spLocks noGrp="1"/>
          </p:cNvSpPr>
          <p:nvPr/>
        </p:nvSpPr>
        <p:spPr>
          <a:xfrm>
            <a:off x="8805672" y="4398264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2D98D47-7C22-4937-98B4-6107452D4D86}"/>
              </a:ext>
            </a:extLst>
          </p:cNvPr>
          <p:cNvSpPr>
            <a:spLocks noGrp="1"/>
          </p:cNvSpPr>
          <p:nvPr/>
        </p:nvSpPr>
        <p:spPr>
          <a:xfrm>
            <a:off x="6903720" y="4636008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BD0B2A0-A928-453B-8014-23E699753BD9}"/>
              </a:ext>
            </a:extLst>
          </p:cNvPr>
          <p:cNvSpPr>
            <a:spLocks noGrp="1"/>
          </p:cNvSpPr>
          <p:nvPr/>
        </p:nvSpPr>
        <p:spPr>
          <a:xfrm>
            <a:off x="7141464" y="4636008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850E760-A953-417F-AAC1-DB9BACF1B833}"/>
              </a:ext>
            </a:extLst>
          </p:cNvPr>
          <p:cNvSpPr>
            <a:spLocks noGrp="1"/>
          </p:cNvSpPr>
          <p:nvPr/>
        </p:nvSpPr>
        <p:spPr>
          <a:xfrm>
            <a:off x="7379208" y="4636008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FF7C139-EBB8-42B7-BD77-493B61E4FD41}"/>
              </a:ext>
            </a:extLst>
          </p:cNvPr>
          <p:cNvSpPr>
            <a:spLocks noGrp="1"/>
          </p:cNvSpPr>
          <p:nvPr/>
        </p:nvSpPr>
        <p:spPr>
          <a:xfrm>
            <a:off x="7616952" y="4636008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7C61668-ED76-4AED-85C4-ED597BFE3D31}"/>
              </a:ext>
            </a:extLst>
          </p:cNvPr>
          <p:cNvSpPr>
            <a:spLocks noGrp="1"/>
          </p:cNvSpPr>
          <p:nvPr/>
        </p:nvSpPr>
        <p:spPr>
          <a:xfrm>
            <a:off x="7854696" y="4636008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E9D8638-A5CB-40F8-AAB0-50A3640E7FC5}"/>
              </a:ext>
            </a:extLst>
          </p:cNvPr>
          <p:cNvSpPr>
            <a:spLocks noGrp="1"/>
          </p:cNvSpPr>
          <p:nvPr/>
        </p:nvSpPr>
        <p:spPr>
          <a:xfrm>
            <a:off x="8092440" y="4636008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922C60E-97DE-432C-899B-D691F01116C0}"/>
              </a:ext>
            </a:extLst>
          </p:cNvPr>
          <p:cNvSpPr>
            <a:spLocks noGrp="1"/>
          </p:cNvSpPr>
          <p:nvPr/>
        </p:nvSpPr>
        <p:spPr>
          <a:xfrm>
            <a:off x="8330184" y="4636008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34712E5-1658-4980-B445-5EFD3A6336A7}"/>
              </a:ext>
            </a:extLst>
          </p:cNvPr>
          <p:cNvSpPr>
            <a:spLocks noGrp="1"/>
          </p:cNvSpPr>
          <p:nvPr/>
        </p:nvSpPr>
        <p:spPr>
          <a:xfrm>
            <a:off x="8567928" y="4636008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59BCFC7-2F95-4302-9124-8B2503343DA4}"/>
              </a:ext>
            </a:extLst>
          </p:cNvPr>
          <p:cNvSpPr>
            <a:spLocks noGrp="1"/>
          </p:cNvSpPr>
          <p:nvPr/>
        </p:nvSpPr>
        <p:spPr>
          <a:xfrm>
            <a:off x="8805672" y="4636008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67145B3-860D-4FB8-A714-D395E03AE84B}"/>
              </a:ext>
            </a:extLst>
          </p:cNvPr>
          <p:cNvSpPr>
            <a:spLocks noGrp="1"/>
          </p:cNvSpPr>
          <p:nvPr/>
        </p:nvSpPr>
        <p:spPr>
          <a:xfrm>
            <a:off x="6903720" y="4873752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02B522F-B49E-4E89-8A4A-9F6706726E68}"/>
              </a:ext>
            </a:extLst>
          </p:cNvPr>
          <p:cNvSpPr>
            <a:spLocks noGrp="1"/>
          </p:cNvSpPr>
          <p:nvPr/>
        </p:nvSpPr>
        <p:spPr>
          <a:xfrm>
            <a:off x="7141464" y="4873752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508B4EE-6261-4AB9-9986-A856E34DBFCD}"/>
              </a:ext>
            </a:extLst>
          </p:cNvPr>
          <p:cNvSpPr>
            <a:spLocks noGrp="1"/>
          </p:cNvSpPr>
          <p:nvPr/>
        </p:nvSpPr>
        <p:spPr>
          <a:xfrm>
            <a:off x="7379208" y="4873752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A5C35C2-8099-4931-8822-8F7FAA89F235}"/>
              </a:ext>
            </a:extLst>
          </p:cNvPr>
          <p:cNvSpPr>
            <a:spLocks noGrp="1"/>
          </p:cNvSpPr>
          <p:nvPr/>
        </p:nvSpPr>
        <p:spPr>
          <a:xfrm>
            <a:off x="7616952" y="4873752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6C97D312-901D-49A1-8E89-B86B533E9CF3}"/>
              </a:ext>
            </a:extLst>
          </p:cNvPr>
          <p:cNvSpPr>
            <a:spLocks noGrp="1"/>
          </p:cNvSpPr>
          <p:nvPr/>
        </p:nvSpPr>
        <p:spPr>
          <a:xfrm>
            <a:off x="7854696" y="4873752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B69D30A3-4737-46C1-AEF8-2B239DF5BC9F}"/>
              </a:ext>
            </a:extLst>
          </p:cNvPr>
          <p:cNvSpPr>
            <a:spLocks noGrp="1"/>
          </p:cNvSpPr>
          <p:nvPr/>
        </p:nvSpPr>
        <p:spPr>
          <a:xfrm>
            <a:off x="8092440" y="4873752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4C2F6CEC-19C5-4ECE-B4D8-AA6BF9A60095}"/>
              </a:ext>
            </a:extLst>
          </p:cNvPr>
          <p:cNvSpPr>
            <a:spLocks noGrp="1"/>
          </p:cNvSpPr>
          <p:nvPr/>
        </p:nvSpPr>
        <p:spPr>
          <a:xfrm>
            <a:off x="8330184" y="4873752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0EF39D56-448E-4E24-817F-DD3122FADE67}"/>
              </a:ext>
            </a:extLst>
          </p:cNvPr>
          <p:cNvSpPr>
            <a:spLocks noGrp="1"/>
          </p:cNvSpPr>
          <p:nvPr/>
        </p:nvSpPr>
        <p:spPr>
          <a:xfrm>
            <a:off x="8567928" y="4873752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BCB6CD88-78F2-4B20-A6F5-E81C333FC89D}"/>
              </a:ext>
            </a:extLst>
          </p:cNvPr>
          <p:cNvSpPr>
            <a:spLocks noGrp="1"/>
          </p:cNvSpPr>
          <p:nvPr/>
        </p:nvSpPr>
        <p:spPr>
          <a:xfrm>
            <a:off x="8805672" y="4873752"/>
            <a:ext cx="45720" cy="45720"/>
          </a:xfrm>
          <a:prstGeom prst="ellipse">
            <a:avLst/>
          </a:prstGeom>
          <a:solidFill>
            <a:srgbClr val="2C456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1034B2DF-74CF-4618-BB5F-349044481ECC}"/>
              </a:ext>
            </a:extLst>
          </p:cNvPr>
          <p:cNvSpPr>
            <a:spLocks noGrp="1"/>
          </p:cNvSpPr>
          <p:nvPr/>
        </p:nvSpPr>
        <p:spPr>
          <a:xfrm>
            <a:off x="0" y="196596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F4A2CBA-BBA5-4DE2-94CF-0CBA92194689}"/>
              </a:ext>
            </a:extLst>
          </p:cNvPr>
          <p:cNvSpPr>
            <a:spLocks noGrp="1"/>
          </p:cNvSpPr>
          <p:nvPr/>
        </p:nvSpPr>
        <p:spPr>
          <a:xfrm>
            <a:off x="0" y="2834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Spring AI Library  ·  RAG·LLM 파트</a:t>
            </a: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106D6445-352F-400C-B514-10EC362A3715}"/>
              </a:ext>
            </a:extLst>
          </p:cNvPr>
          <p:cNvSpPr>
            <a:spLocks noGrp="1"/>
          </p:cNvSpPr>
          <p:nvPr/>
        </p:nvSpPr>
        <p:spPr>
          <a:xfrm>
            <a:off x="0" y="32461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rgbClr val="8FA2BA"/>
                </a:solidFill>
                <a:latin typeface="Malgun Gothic"/>
                <a:ea typeface="Malgun Gothic"/>
                <a:cs typeface="Malgun Gothic"/>
              </a:rPr>
              <a:t>박현준</a:t>
            </a:r>
          </a:p>
        </p:txBody>
      </p:sp>
    </p:spTree>
    <p:extLst>
      <p:ext uri="{BB962C8B-B14F-4D97-AF65-F5344CB8AC3E}">
        <p14:creationId xmlns:p14="http://schemas.microsoft.com/office/powerpoint/2010/main" val="1096162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1363</Words>
  <Application>Microsoft Macintosh PowerPoint</Application>
  <DocSecurity>0</DocSecurity>
  <PresentationFormat>화면 슬라이드 쇼(16:9)</PresentationFormat>
  <Paragraphs>228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박현준</cp:lastModifiedBy>
  <cp:revision>1</cp:revision>
  <dcterms:created xsi:type="dcterms:W3CDTF">2026-08-03T03:34:08Z</dcterms:created>
  <dcterms:modified xsi:type="dcterms:W3CDTF">2026-08-03T04:19:12Z</dcterms:modified>
</cp:coreProperties>
</file>