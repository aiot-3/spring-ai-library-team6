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2e8d6f3864005" /><Relationship Type="http://schemas.openxmlformats.org/officeDocument/2006/relationships/extended-properties" Target="/docProps/app.xml" Id="R6a89760cbb314baa" /><Relationship Type="http://schemas.openxmlformats.org/officeDocument/2006/relationships/officeDocument" Target="/ppt/presentation.xml" Id="Refb044c3802f4e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2281ce89c14dc6"/>
  </p:sldMasterIdLst>
  <p:notesMasterIdLst>
    <p:notesMasterId xmlns:r="http://schemas.openxmlformats.org/officeDocument/2006/relationships" r:id="R8b903d31c58a49d9"/>
  </p:notesMasterIdLst>
  <p:sldIdLst>
    <p:sldId xmlns:r="http://schemas.openxmlformats.org/officeDocument/2006/relationships" id="256" r:id="Red6818db403e47ae"/>
    <p:sldId xmlns:r="http://schemas.openxmlformats.org/officeDocument/2006/relationships" id="257" r:id="R58faf466e30644be"/>
    <p:sldId xmlns:r="http://schemas.openxmlformats.org/officeDocument/2006/relationships" id="258" r:id="R6ea7c77c1f8b4837"/>
    <p:sldId xmlns:r="http://schemas.openxmlformats.org/officeDocument/2006/relationships" id="259" r:id="R7715c71b92774c04"/>
    <p:sldId xmlns:r="http://schemas.openxmlformats.org/officeDocument/2006/relationships" id="260" r:id="R4858d384bda141f8"/>
    <p:sldId xmlns:r="http://schemas.openxmlformats.org/officeDocument/2006/relationships" id="261" r:id="Re7a0278d8e1d4f8d"/>
    <p:sldId xmlns:r="http://schemas.openxmlformats.org/officeDocument/2006/relationships" id="262" r:id="Re46204c2a3d04cc4"/>
    <p:sldId xmlns:r="http://schemas.openxmlformats.org/officeDocument/2006/relationships" id="263" r:id="R837d53aa3b3e454b"/>
    <p:sldId xmlns:r="http://schemas.openxmlformats.org/officeDocument/2006/relationships" id="264" r:id="Rdfcad042c29f4391"/>
    <p:sldId xmlns:r="http://schemas.openxmlformats.org/officeDocument/2006/relationships" id="265" r:id="Rdd249a6edb204fee"/>
    <p:sldId xmlns:r="http://schemas.openxmlformats.org/officeDocument/2006/relationships" id="266" r:id="Rd561f562a94a4f0e"/>
    <p:sldId xmlns:r="http://schemas.openxmlformats.org/officeDocument/2006/relationships" id="267" r:id="R63689ec9176d4b7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f4a6c45b3445a2" /><Relationship Type="http://schemas.openxmlformats.org/officeDocument/2006/relationships/slideMaster" Target="/ppt/slideMasters/slideMaster1.xml" Id="R9c2281ce89c14dc6" /><Relationship Type="http://schemas.openxmlformats.org/officeDocument/2006/relationships/notesMaster" Target="/ppt/notesMasters/notesMaster1.xml" Id="R8b903d31c58a49d9" /><Relationship Type="http://schemas.openxmlformats.org/officeDocument/2006/relationships/presProps" Target="/ppt/presProps.xml" Id="R2993ee7814944c06" /><Relationship Type="http://schemas.openxmlformats.org/officeDocument/2006/relationships/viewProps" Target="/ppt/viewProps.xml" Id="R797b8bcb3a744db6" /><Relationship Type="http://schemas.openxmlformats.org/officeDocument/2006/relationships/tableStyles" Target="/ppt/tableStyles.xml" Id="R4b16d9ea0b4c405a" /><Relationship Type="http://schemas.openxmlformats.org/officeDocument/2006/relationships/slide" Target="/ppt/slides/slide1.xml" Id="Red6818db403e47ae" /><Relationship Type="http://schemas.openxmlformats.org/officeDocument/2006/relationships/slide" Target="/ppt/slides/slide2.xml" Id="R58faf466e30644be" /><Relationship Type="http://schemas.openxmlformats.org/officeDocument/2006/relationships/slide" Target="/ppt/slides/slide3.xml" Id="R6ea7c77c1f8b4837" /><Relationship Type="http://schemas.openxmlformats.org/officeDocument/2006/relationships/slide" Target="/ppt/slides/slide4.xml" Id="R7715c71b92774c04" /><Relationship Type="http://schemas.openxmlformats.org/officeDocument/2006/relationships/slide" Target="/ppt/slides/slide5.xml" Id="R4858d384bda141f8" /><Relationship Type="http://schemas.openxmlformats.org/officeDocument/2006/relationships/slide" Target="/ppt/slides/slide6.xml" Id="Re7a0278d8e1d4f8d" /><Relationship Type="http://schemas.openxmlformats.org/officeDocument/2006/relationships/slide" Target="/ppt/slides/slide7.xml" Id="Re46204c2a3d04cc4" /><Relationship Type="http://schemas.openxmlformats.org/officeDocument/2006/relationships/slide" Target="/ppt/slides/slide8.xml" Id="R837d53aa3b3e454b" /><Relationship Type="http://schemas.openxmlformats.org/officeDocument/2006/relationships/slide" Target="/ppt/slides/slide9.xml" Id="Rdfcad042c29f4391" /><Relationship Type="http://schemas.openxmlformats.org/officeDocument/2006/relationships/slide" Target="/ppt/slides/slide10.xml" Id="Rdd249a6edb204fee" /><Relationship Type="http://schemas.openxmlformats.org/officeDocument/2006/relationships/slide" Target="/ppt/slides/slide11.xml" Id="Rd561f562a94a4f0e" /><Relationship Type="http://schemas.openxmlformats.org/officeDocument/2006/relationships/slide" Target="/ppt/slides/slide12.xml" Id="R63689ec9176d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3da5de0e76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ea35391d6945a8" /><Relationship Type="http://schemas.openxmlformats.org/officeDocument/2006/relationships/notesMaster" Target="/ppt/notesMasters/notesMaster1.xml" Id="R219b0f69781344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53af0b8374ece" /><Relationship Type="http://schemas.openxmlformats.org/officeDocument/2006/relationships/notesMaster" Target="/ppt/notesMasters/notesMaster1.xml" Id="R7579d4b086c943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aa9c56f33c4551" /><Relationship Type="http://schemas.openxmlformats.org/officeDocument/2006/relationships/notesMaster" Target="/ppt/notesMasters/notesMaster1.xml" Id="Rf64d0592bc454b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8089545d034574" /><Relationship Type="http://schemas.openxmlformats.org/officeDocument/2006/relationships/notesMaster" Target="/ppt/notesMasters/notesMaster1.xml" Id="Rc061e2230c9d41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abfe1ea6a2496b" /><Relationship Type="http://schemas.openxmlformats.org/officeDocument/2006/relationships/notesMaster" Target="/ppt/notesMasters/notesMaster1.xml" Id="R2fddf38d65a949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7f910696f04047" /><Relationship Type="http://schemas.openxmlformats.org/officeDocument/2006/relationships/notesMaster" Target="/ppt/notesMasters/notesMaster1.xml" Id="R710f827592d3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613b7a302e41a4" /><Relationship Type="http://schemas.openxmlformats.org/officeDocument/2006/relationships/notesMaster" Target="/ppt/notesMasters/notesMaster1.xml" Id="R74e09705f10a40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68e5cc2acb4e03" /><Relationship Type="http://schemas.openxmlformats.org/officeDocument/2006/relationships/notesMaster" Target="/ppt/notesMasters/notesMaster1.xml" Id="Re43a77b0b41d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36d6f0bfcd47ea" /><Relationship Type="http://schemas.openxmlformats.org/officeDocument/2006/relationships/notesMaster" Target="/ppt/notesMasters/notesMaster1.xml" Id="R8f34dcf9af4a42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ee8eadf1d34107" /><Relationship Type="http://schemas.openxmlformats.org/officeDocument/2006/relationships/notesMaster" Target="/ppt/notesMasters/notesMaster1.xml" Id="R4dadc5bdeb1f41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d87f8128d14d3c" /><Relationship Type="http://schemas.openxmlformats.org/officeDocument/2006/relationships/notesMaster" Target="/ppt/notesMasters/notesMaster1.xml" Id="Rd9e4a7157d464c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2ed908f3514218" /><Relationship Type="http://schemas.openxmlformats.org/officeDocument/2006/relationships/notesMaster" Target="/ppt/notesMasters/notesMaster1.xml" Id="Re800aac32fdb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 branches ATGG_03_015/init, step1, and step2</a:t>
            </a:r>
          </a:p>
          <a:p xmlns:a="http://schemas.openxmlformats.org/drawingml/2006/main">
            <a:r>
              <a:t>- Local Git author mapping Quasimorphism and SangMin Park &lt;bak575755@gmail.com&gt;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outline derived from local repository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pom.xml and src/main/resources/application.yaml</a:t>
            </a:r>
          </a:p>
          <a:p xmlns:a="http://schemas.openxmlformats.org/drawingml/2006/main">
            <a:r>
              <a:t>- docs/notes/2026-06-23-book-data-profile-and-entity-decisions.md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 log --all --no-merges --author=bak575755@gmail.com: 34 commits</a:t>
            </a:r>
          </a:p>
          <a:p xmlns:a="http://schemas.openxmlformats.org/drawingml/2006/main">
            <a:r>
              <a:t>- Commits 305ae53, 1876e20, ee34602, 23601ca, ccb6c61, 94982da, 2bded2a, and 2ca4649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docs/notes/2026-06-23-book-data-profile-and-entity-decisions.md</a:t>
            </a:r>
          </a:p>
          <a:p xmlns:a="http://schemas.openxmlformats.org/drawingml/2006/main">
            <a:r>
              <a:t>- docs/notes/2026-06-24-batch-insert-comparison.md</a:t>
            </a:r>
          </a:p>
          <a:p xmlns:a="http://schemas.openxmlformats.org/drawingml/2006/main">
            <a:r>
              <a:t>- docs/notes/2026-06-25-search-index-explain.md</a:t>
            </a:r>
          </a:p>
          <a:p xmlns:a="http://schemas.openxmlformats.org/drawingml/2006/main">
            <a:r>
              <a:t>- Commits 94982da and 2bded2a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sequence b71213f through 2ca4649</a:t>
            </a:r>
          </a:p>
          <a:p xmlns:a="http://schemas.openxmlformats.org/drawingml/2006/main">
            <a:r>
              <a:t>- Local repository packages book, search, feedback, telegram, personalization, and rag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docs/notes/2026-06-23-book-data-profile-and-entity-decisions.md</a:t>
            </a:r>
          </a:p>
          <a:p xmlns:a="http://schemas.openxmlformats.org/drawingml/2006/main">
            <a:r>
              <a:t>- docs/notes/2026-06-24-batch-insert-comparison.md</a:t>
            </a:r>
          </a:p>
          <a:p xmlns:a="http://schemas.openxmlformats.org/drawingml/2006/main">
            <a:r>
              <a:t>- Commits 1876e20, ee34602, and 5a208ef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docs/notes/2026-06-25-search-index-explain.md</a:t>
            </a:r>
          </a:p>
          <a:p xmlns:a="http://schemas.openxmlformats.org/drawingml/2006/main">
            <a:r>
              <a:t>- docs/sql/search-indexes.sql</a:t>
            </a:r>
          </a:p>
          <a:p xmlns:a="http://schemas.openxmlformats.org/drawingml/2006/main">
            <a:r>
              <a:t>- Commit ccb6c61 and commit 307b349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94982da and commit 3ea11e6</a:t>
            </a:r>
          </a:p>
          <a:p xmlns:a="http://schemas.openxmlformats.org/drawingml/2006/main">
            <a:r>
              <a:t>- CaffeineTelegramSearchContextStore.java</a:t>
            </a:r>
          </a:p>
          <a:p xmlns:a="http://schemas.openxmlformats.org/drawingml/2006/main">
            <a:r>
              <a:t>- TelegramCallbackData.java, TelegramCallbackHandler.java, and SubmitFeedbackUseCase.java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2bded2a and commit 2ca4649</a:t>
            </a:r>
          </a:p>
          <a:p xmlns:a="http://schemas.openxmlformats.org/drawingml/2006/main">
            <a:r>
              <a:t>- PersonalizationScoringPolicy.java and RerankBookSearchResultsUseCase.java</a:t>
            </a:r>
          </a:p>
          <a:p xmlns:a="http://schemas.openxmlformats.org/drawingml/2006/main">
            <a:r>
              <a:t>- CalculateUserPreferenceVectorUseCase.java, PersonalizationQueryRepository.java, and SearchBooksRagUseCase.java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 history for 34 non-merge commits</a:t>
            </a:r>
          </a:p>
          <a:p xmlns:a="http://schemas.openxmlformats.org/drawingml/2006/main">
            <a:r>
              <a:t>- docs/notes/2026-06-24-batch-insert-comparison.md</a:t>
            </a:r>
          </a:p>
          <a:p xmlns:a="http://schemas.openxmlformats.org/drawingml/2006/main">
            <a:r>
              <a:t>- docs/notes/2026-06-25-search-index-explain.md</a:t>
            </a:r>
          </a:p>
          <a:p xmlns:a="http://schemas.openxmlformats.org/drawingml/2006/main">
            <a:r>
              <a:t>- Personalization and Telegram implementation files cited on slides 9-10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slide; all claims are supported by the local repository and Git history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b76f87c9242a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b70244d0494006" /><Relationship Type="http://schemas.openxmlformats.org/officeDocument/2006/relationships/slideLayout" Target="/ppt/slideLayouts/slideLayout1.xml" Id="R30ebc33af6db489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ebc33af6db489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3d8447a8147c0" /><Relationship Type="http://schemas.openxmlformats.org/officeDocument/2006/relationships/notesSlide" Target="/ppt/notesSlides/notesSlide1.xml" Id="R6991f8a97f2346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86fb11ae44946" /><Relationship Type="http://schemas.openxmlformats.org/officeDocument/2006/relationships/notesSlide" Target="/ppt/notesSlides/notesSlide2.xml" Id="R818d116ced7443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f903af98b4131" /><Relationship Type="http://schemas.openxmlformats.org/officeDocument/2006/relationships/notesSlide" Target="/ppt/notesSlides/notesSlide3.xml" Id="R806132f7fbc7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d18169a2e4de9" /><Relationship Type="http://schemas.openxmlformats.org/officeDocument/2006/relationships/notesSlide" Target="/ppt/notesSlides/notesSlide4.xml" Id="R30043920d47645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370f4fbc847a5" /><Relationship Type="http://schemas.openxmlformats.org/officeDocument/2006/relationships/notesSlide" Target="/ppt/notesSlides/notesSlide5.xml" Id="R4eef06340b124b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ece02fe5f43e4" /><Relationship Type="http://schemas.openxmlformats.org/officeDocument/2006/relationships/image" Target="/ppt/media/image.png" Id="R13a00f526f1344ab" /><Relationship Type="http://schemas.openxmlformats.org/officeDocument/2006/relationships/image" Target="/ppt/media/image2.png" Id="Re7a35a052c87472e" /><Relationship Type="http://schemas.openxmlformats.org/officeDocument/2006/relationships/image" Target="/ppt/media/image3.png" Id="R18b43a3baf1546d1" /><Relationship Type="http://schemas.openxmlformats.org/officeDocument/2006/relationships/notesSlide" Target="/ppt/notesSlides/notesSlide6.xml" Id="Rcd583c09894340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c3878f57d4111" /><Relationship Type="http://schemas.openxmlformats.org/officeDocument/2006/relationships/notesSlide" Target="/ppt/notesSlides/notesSlide7.xml" Id="Rba57d4e4a98e46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99dc1eccd4645" /><Relationship Type="http://schemas.openxmlformats.org/officeDocument/2006/relationships/image" Target="/ppt/media/image4.png" Id="Re562eca81da94c4a" /><Relationship Type="http://schemas.openxmlformats.org/officeDocument/2006/relationships/notesSlide" Target="/ppt/notesSlides/notesSlide8.xml" Id="R10ec81280eda4f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803a4cac4ef3" /><Relationship Type="http://schemas.openxmlformats.org/officeDocument/2006/relationships/notesSlide" Target="/ppt/notesSlides/notesSlide9.xml" Id="Ra639b87cd3194e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a5db21f9c4050" /><Relationship Type="http://schemas.openxmlformats.org/officeDocument/2006/relationships/image" Target="/ppt/media/image5.png" Id="R4781bb2bcea94eb5" /><Relationship Type="http://schemas.openxmlformats.org/officeDocument/2006/relationships/notesSlide" Target="/ppt/notesSlides/notesSlide10.xml" Id="Re0ba9add517846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acb486a7b4076" /><Relationship Type="http://schemas.openxmlformats.org/officeDocument/2006/relationships/image" Target="/ppt/media/image4.png" Id="Ra390feff320145d1" /><Relationship Type="http://schemas.openxmlformats.org/officeDocument/2006/relationships/image" Target="/ppt/media/image6.png" Id="R9b92fdb28abf498f" /><Relationship Type="http://schemas.openxmlformats.org/officeDocument/2006/relationships/notesSlide" Target="/ppt/notesSlides/notesSlide11.xml" Id="R70adcc07a3724b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5626722ba4020" /><Relationship Type="http://schemas.openxmlformats.org/officeDocument/2006/relationships/notesSlide" Target="/ppt/notesSlides/notesSlide12.xml" Id="R2fe40e40b37a46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0AFFCF4-82ED-4469-8DC4-E1C0E4BE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5D2A17-18CF-47AB-8BF3-2BD2E57F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AC5BB15-A6C9-48A9-9950-4AC487BB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BBAE661-11E1-4C9C-9955-0C96B791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B5F80E-1CE5-4D61-A568-0AEBFD5D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69E7D44-BA6A-4335-BFEE-6F64AF5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06B38BE-E72C-41FB-9152-455A0C39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8BB3CBF-723F-4A57-909E-8D1BF05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EE471BA-ECB9-4638-AD4F-694031A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657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235745C-1E08-4862-BBA8-E897C2D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6E44738-1B19-4EC5-9B78-DB9B1CD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6F8AFF6-8BD5-47F4-86E3-94613FA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E00484-B0BE-4787-AC86-18E111C3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F99F9BC-5F77-4CA6-B0F0-7A6803B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9B4EF2-454C-4885-B25B-E866150B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681A652-C6BA-45FB-AFFB-A9810380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2F2839-7168-453F-B4FA-F75FDB26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E875266-E0DC-4E10-AD60-9A441FCB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35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A7591DF-2A50-4F45-9CA4-6C2E1789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97EDFB7-5C3A-4961-974B-DFF3B76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A806007-8D11-4244-AAFF-41B4640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C6C7B00-459A-4192-9202-0FD603A0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060BF0-1E05-4853-91D3-6E940D2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3B8FF18-CBAF-40FC-98DA-DC4BAA75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D625FC7-843C-46D8-BB42-C76644D0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D295EA9-28C5-4A65-91D6-79B997D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6351F61-B4E0-4DA8-A3C0-2126EDA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8412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E859E5-F76B-434B-8544-8363F224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9468D86-431A-4F58-9328-0034F94B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DF58BC2-2878-4B99-90FB-A4BF306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C49A136-47C1-4173-9F7E-6A05A64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9080BEFF-FE60-4AE7-B422-2201B513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8B53A3B-84F8-494A-85AE-053B20C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7B10312-AF97-4A6B-A110-6AB6917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CA22F04-3766-447C-9A67-8178815F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5C419C0-4E80-467A-AC94-6241C5D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10789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07A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9E12BCB-0CD5-4E03-B679-03D229BD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00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NHN 아카데미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87C7ED6-1C7C-4E05-AB9D-3B496941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1248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00">
                <a:solidFill>
                  <a:srgbClr val="9FB0C6"/>
                </a:solidFill>
                <a:latin typeface="Apple SD Gothic Neo"/>
                <a:ea typeface="Apple SD Gothic Neo"/>
                <a:cs typeface="Apple SD Gothic Neo"/>
              </a:rPr>
              <a:t>KDT 3기  ·  Spring AI 프로젝트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1E13A2B-7593-4D25-B686-4D970E87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088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4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Spring AI Library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424DEE4-8643-47D0-B34C-C767591A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91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>
                <a:solidFill>
                  <a:srgbClr val="CFE9E6"/>
                </a:solidFill>
                <a:latin typeface="Apple SD Gothic Neo"/>
                <a:ea typeface="Apple SD Gothic Neo"/>
                <a:cs typeface="Apple SD Gothic Neo"/>
              </a:rPr>
              <a:t>데이터에서 개인화 추천까지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6ACF612-1515-4845-BED7-BE45AD2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0D9488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8D4422C-50BA-4900-B9FF-FB42B6B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데이터 프로파일링  ·  검색 최적화  ·  피드백 기반 개인화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87A4019-F3EB-4F7C-A38F-AE45B2CA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00">
                <a:solidFill>
                  <a:srgbClr val="8FA2BA"/>
                </a:solidFill>
                <a:latin typeface="Apple SD Gothic Neo"/>
                <a:ea typeface="Apple SD Gothic Neo"/>
                <a:cs typeface="Apple SD Gothic Neo"/>
              </a:rPr>
              <a:t>담당  박상민  (ATGG_03_015)   ·   인터페이스·개인화 파트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F4E19BE-5CD8-44A0-9FB0-5C7C23F6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51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86919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36382A-325A-4F41-B365-3D471EC0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CONTENTS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0E7A91-09E9-44C3-B80C-AB41AAA4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C1F8CA-EBB6-45C6-9E63-A3A6C81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1016"/>
            <a:ext cx="914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400" b="1">
                <a:solidFill>
                  <a:srgbClr val="C4D0D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4DD5A4-6740-4903-ADA6-5FF0C9E4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32588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프로젝트 개요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75E2CC-6739-435B-BC14-49309B29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73352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주제·기술 스택·전체 구조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CF789E-929F-4789-BD31-7C6FB36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914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400" b="1">
                <a:solidFill>
                  <a:srgbClr val="C4D0D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A0A5E9-A316-49C4-9B0A-6AA1FDB2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039112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기여 범위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B4D1D2-CDD8-4BDB-BF07-A82808B8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86584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34개 커밋을 네 개 구현 축으로 정리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06E7F48-CF22-47DD-A702-D8DEAC5B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914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400" b="1">
                <a:solidFill>
                  <a:srgbClr val="C4D0D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F091CEB-654B-4550-9FDA-0370FAA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52344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절차 및 방법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FB4AB2-F3A0-45A6-9539-1A08F087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09981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측정 → 구현 → 통합 단계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556FD32-20C1-448E-8887-116C356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0712"/>
            <a:ext cx="914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4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251331-80F1-48C5-9189-E7D3018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465576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결과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94B033-A991-4480-AE8E-CCD2E667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130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데이터 · 인덱스 · 피드백 · 개인화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EF47B44-393C-40C0-B89E-C62AC015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23944"/>
            <a:ext cx="914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3400" b="1">
                <a:solidFill>
                  <a:srgbClr val="C4D0DE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6007D3-1915-4A4B-9A1F-EAC60D98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178808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7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사후 평가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D7B4135-9CC1-4AEE-B266-1F0A24DE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2628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검증된 성과와 남은 한계</a:t>
            </a:r>
          </a:p>
        </p:txBody>
      </p:sp>
    </p:spTree>
    <p:extLst>
      <p:ext uri="{BB962C8B-B14F-4D97-AF65-F5344CB8AC3E}">
        <p14:creationId xmlns:p14="http://schemas.microsoft.com/office/powerpoint/2010/main" val="546634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B236FD-9A8A-4DCE-9235-7BB9EE7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48F982-D160-4AB7-9447-DB5D0E3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6B5ED1-4C51-41A6-8850-06E05B2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프로젝트 개요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AE66677-54F4-4BA3-9568-026F5BB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4202C7-A50E-4FCE-A6E6-FD9D4D5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0BE429-91EC-4154-B7BB-9FC82705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8448"/>
            <a:ext cx="3977640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A554B23-AC77-4A5D-9798-F2589898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26464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주제 및 목표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3983BC-4336-4EDD-B9E7-E858B9A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55648"/>
            <a:ext cx="357530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Spring AI로 자연어 질문에 맞는 도서를 검색·추천한다.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157,118건의 도서 데이터를 검색과 RAG가 신뢰할 수 있는 형태로 준비한다.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3CFA5C0-4F21-4E5F-B585-ED1FD256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98448"/>
            <a:ext cx="3977640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7E6F7A-428A-46E0-9E9F-C9A3E0B0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426464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프로젝트 기능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D860497-D205-4387-B3BF-F7A6929D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755648"/>
            <a:ext cx="357530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2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키워드·벡터 하이브리드 검색 · RAG 추천 · 리뷰 통계/요약 · Telegram 피드백 · 선호 벡터 재정렬 · 시맨틱 캐싱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9525339-AFFE-4C95-9CE7-FF99D59D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8064"/>
            <a:ext cx="3977640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E900EB4-9541-48EA-AB74-46821E9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26080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기술 스택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CE4C261-6E75-4CD8-9F56-0A88351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55264"/>
            <a:ext cx="357530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Java 21 · Spring Boot 4.1 · Spring AI 2.0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PostgreSQL 16 · pgvector · QueryDSL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Ollama qwen3.5:9b · bge-m3 (1024차원)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Redis · RabbitMQ · Caffeine · Telegram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1748428-20FD-4352-95B9-3E8A1FDD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98064"/>
            <a:ext cx="3977640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482C62-E46C-4A56-A1FB-72BB3D4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926080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프로젝트 구조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543752-B96E-48CC-B428-333C9049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55264"/>
            <a:ext cx="357530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기능 중심 패키지 + 계층 분리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book · search · rag · review · feedback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personalization · cache · telegram · ai(agent)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1FD4508-A92E-4BFA-A8B5-8625594D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82296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91EF36-04D4-4F08-89CE-81F7E2D3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97680"/>
            <a:ext cx="7827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기대 효과   데이터 품질과 적재 성능을 먼저 검증하고, 검색 결과를 사용자 피드백으로 재정렬해 추천의 정확도와 사용자별 일관성을 함께 높인다.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E7423D0-D936-4B02-A375-D7A9802C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F47F523-BA25-418E-A15D-2E84F911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0312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CDBE6A-46F7-4FED-9429-AA97CAD9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5BCDFD-44A8-4894-A683-585A64B1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6CD1CC-B108-4C6A-A8BD-15238AB1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기여 범위 — 커밋 기준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F39304-E6B5-4746-AF27-C050CC0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비병합 커밋 34개 · 공식 역할과 공통 기반 기여를 함께 정리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AEF9A2D-E4E4-4DFF-8C2A-CFE91E69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graphicFrame>
        <p:nvGraphicFramePr>
          <p:cNvPr id="17" name="Table 0"/>
          <p:cNvGraphicFramePr/>
          <p:nvPr/>
        </p:nvGraphicFramePr>
        <p:xfrm>
          <a:off xmlns:a="http://schemas.openxmlformats.org/drawingml/2006/main" x="457200" y="1298448"/>
          <a:ext xmlns:a="http://schemas.openxmlformats.org/drawingml/2006/main" cx="7772400" cy="27797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1640"/>
                <a:gridCol w="2331720"/>
                <a:gridCol w="374904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#  기여 축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패키지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구현 내용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① 데이터 기반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book.* · global.exception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CSV 프로파일 · Book/ISBN 정규화 · 대량 적재 · 임베딩 생성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 b="1">
                          <a:solidFill>
                            <a:srgbClr val="21304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② 검색 · 인덱스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search.* · book.persistence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QueryDSL 키워드 검색 · 검색 타깃 분석 · EXPLAIN ANALYZE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7EE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③ 인터페이스 · 피드백 ★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feedback.* · telegram.*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04A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피드백 계약 · callback/context store · 관리자 통계 · Telegram 출력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>
                          <a:solidFill>
                            <a:srgbClr val="21304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④ 개인화 · 캐시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6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personalization.* · rag.*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3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선호 벡터 · RRF 재정렬 · Redis 설정 · 개인화 캐시 우회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861CA6-8A00-43B9-BA92-5A044A59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68DAFD5-E1D7-4331-99A9-ED8BEEB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3753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C4408D-5BA0-423B-BC56-8F2E96E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C5F2E9-B07A-4613-BD56-5EC0D5A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8DDD0BC-8732-462C-8B5A-F322533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절차 및 방법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2BD20B-9580-4E2C-8A7C-F32DF8CB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측정 결과를 다음 구현 결정으로 연결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4EDF3D-276B-42A8-ABDC-D0E1E4B6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457200" y="1298448"/>
          <a:ext xmlns:a="http://schemas.openxmlformats.org/drawingml/2006/main" cx="8229600" cy="31455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4520"/>
                <a:gridCol w="4892040"/>
                <a:gridCol w="146304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단계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활동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기준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2130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21304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프로젝트 기반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Spring Boot · PostgreSQL/pgvector · Book/예외 처리 구성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컨테이너 기동 테스트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21304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결정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157,118×18 프로파일 · ISBN/가격/날짜 타입 결정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프로파일 테스트·결정 문서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적재·임베딩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04A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JPA/JDBC/COPY 3경로 구현 · 임베딩 생성 파이프라인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3회 end-to-end 측정·저장소 테스트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검색·인덱스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04A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QueryDSL 키워드 검색 · KDC/FTS 후보 실험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EXPLAIN ANALYZE에서 실제 plan 선택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피드백·Telegram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04A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callback 파싱 · context 복원 · 도서 검증 · 저장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B7A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정상/만료/오류 응답 분리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  <a:solidFill>
                      <a:srgbClr val="E3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 b="1">
                          <a:solidFill>
                            <a:srgbClr val="21304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개인화·통합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최근 피드백 평균 벡터 · RRF 보정 · 캐시 무효화/우회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20">
                          <a:solidFill>
                            <a:srgbClr val="1F2A37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신호 부족 시 원본 순서 유지</a:t>
                      </a:r>
                    </a:p>
                  </a:txBody>
                  <a:tcPr marL="76200" marR="76200" marT="25400" marB="25400" anchor="ctr">
                    <a:lnL w="9525" cmpd="sng">
                      <a:solidFill>
                        <a:srgbClr val="D3DBE6"/>
                      </a:solidFill>
                      <a:prstDash val="solid"/>
                    </a:lnL>
                    <a:lnR w="9525" cmpd="sng">
                      <a:solidFill>
                        <a:srgbClr val="D3DBE6"/>
                      </a:solidFill>
                      <a:prstDash val="solid"/>
                    </a:lnR>
                    <a:lnT w="9525" cmpd="sng">
                      <a:solidFill>
                        <a:srgbClr val="D3DBE6"/>
                      </a:solidFill>
                      <a:prstDash val="solid"/>
                    </a:lnT>
                    <a:lnB w="9525" cmpd="sng">
                      <a:solidFill>
                        <a:srgbClr val="D3DB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3FF96F-925E-4FC2-A349-22340BDD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66D2E58-953A-4F99-9C7B-4B84A49B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2975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E73F610-4C95-4064-AD3D-C5FCFA23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C06594-41EC-4A4D-87A5-15846E9F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67897A-BDB7-41A7-B9DD-2BF1B5E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결과 (1) — 기여 흐름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CF1E93-980B-45E4-B937-E2377822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데이터 신뢰성부터 사용자별 추천 정합성까지 한 경로로 연결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326270-942B-4669-AFBE-1B0F7CC1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9D8BF6-DBF5-46FE-9BFB-50C96291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70432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968B7E-46BA-4BDE-B486-E2AE148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1371600"/>
            <a:ext cx="11155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8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CSV 프로파일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E14FC79-8E6D-454D-BF71-7FD476B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" y="1673352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61C304-221E-4EDE-9419-3217642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1371600"/>
            <a:ext cx="1170432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758E7F-3ADE-421A-BD77-D03A0FED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1371600"/>
            <a:ext cx="11155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8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엔티티·정규화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3B415DF-95EB-433A-BCF3-C77495D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796" y="1673352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9E0D84A-79A4-4880-8315-DC110F98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1371600"/>
            <a:ext cx="1170432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56C7FC0-A6DE-4753-9CCC-8744BEB8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71600"/>
            <a:ext cx="11155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8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COPY 적재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03FE435-F94C-4B08-BC7E-5FA6B09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388" y="1673352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FB5B874-5D64-456B-9136-1A713762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371600"/>
            <a:ext cx="1170432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12DA0AF-3D4F-4A3D-8E25-0CE9504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371600"/>
            <a:ext cx="11155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8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검색·인덱스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9AA2E53-55C9-4137-8509-1472AE1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80" y="1673352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A64E571-B7B1-4B2E-8FCA-62BD4869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1371600"/>
            <a:ext cx="1170432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EB4C87-A7E3-4EFE-AA10-7AC626E6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71600"/>
            <a:ext cx="11155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8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Telegram 피드백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FC2614D-877A-462A-B4D8-23E35C1F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572" y="1673352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D0C6FB4-5FCE-40B9-94E8-031DF551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71600"/>
            <a:ext cx="1170432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DE64FC4-3881-4DC0-B3B8-D43DD3C7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1371600"/>
            <a:ext cx="11155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8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개인화 재정렬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4A28A3B-90C9-476C-8782-9D339F2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4832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17FC120-5F94-44F3-A986-9566BEF6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256032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13047"/>
          </a:solidFill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00f526f1344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2596896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4E5BD70-ADE0-4F46-A070-684B99E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56032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000" b="1">
                <a:solidFill>
                  <a:srgbClr val="35507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43A55AF-8B8E-45DD-94CA-3291D06E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54096"/>
            <a:ext cx="21579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 근거를 먼저 만들었다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12E5BC0-9FFD-49FF-906A-43F39391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93008"/>
            <a:ext cx="215798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20">
                <a:solidFill>
                  <a:srgbClr val="CFE9E6"/>
                </a:solidFill>
                <a:latin typeface="Apple SD Gothic Neo"/>
                <a:ea typeface="Apple SD Gothic Neo"/>
                <a:cs typeface="Apple SD Gothic Neo"/>
              </a:rPr>
              <a:t>157,118건의 결측·길이·형식을 측정해 ISBN·가격·날짜 타입을 결정하고, JPA/JDBC/COPY를 같은 조건에서 비교했다.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17FC622-321B-4056-AEE2-10F8B0CC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95728"/>
            <a:ext cx="256032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13047"/>
          </a:solidFill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35a052c8747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93008" y="2596896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AF2C5F8-8AC6-4D27-B2A3-D05CD8C8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6032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000" b="1">
                <a:solidFill>
                  <a:srgbClr val="35507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08501C11-7DFD-4DBC-8092-C851E96C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054096"/>
            <a:ext cx="21579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인덱스를 실행 계획으로 선별했다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E62D7E60-5EED-4C38-83BF-F61EDCA0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493008"/>
            <a:ext cx="215798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20">
                <a:solidFill>
                  <a:srgbClr val="CFE9E6"/>
                </a:solidFill>
                <a:latin typeface="Apple SD Gothic Neo"/>
                <a:ea typeface="Apple SD Gothic Neo"/>
                <a:cs typeface="Apple SD Gothic Neo"/>
              </a:rPr>
              <a:t>키워드 검색을 구현한 뒤 planner 선택까지 확인했다. KDC prefix와 description FTS만 후보로 남기고 trigram은 보류했다.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EF7ABF7F-5FBC-48D9-9AA9-A7F81E37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95728"/>
            <a:ext cx="256032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13047"/>
          </a:solidFill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43a3baf15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7648" y="2596896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3B5BEE5B-DB95-42E0-AF4C-52D8318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60320"/>
            <a:ext cx="502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000" b="1">
                <a:solidFill>
                  <a:srgbClr val="35507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B84A506F-8153-4BD8-8FF7-F7860E9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054096"/>
            <a:ext cx="21579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피드백을 개인화로 닫았다</a:t>
            </a:r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7BEC3782-E806-4854-8C8E-A5A9D0AF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93008"/>
            <a:ext cx="215798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20">
                <a:solidFill>
                  <a:srgbClr val="CFE9E6"/>
                </a:solidFill>
                <a:latin typeface="Apple SD Gothic Neo"/>
                <a:ea typeface="Apple SD Gothic Neo"/>
                <a:cs typeface="Apple SD Gothic Neo"/>
              </a:rPr>
              <a:t>Telegram 버튼을 SearchFeedback로 저장하고, 선호 벡터와 RRF를 결합해 재정렬했다. 개인화 요청은 공유 응답 캐시를 우회한다.</a:t>
            </a:r>
          </a:p>
        </p:txBody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D7A1FE39-CD9B-4014-BD0F-E069F460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70D10585-7108-4DC4-A2FF-F229BC20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1264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0509E9-F2D4-4812-8AC0-2704D1A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3A5942-CA72-4DD0-B770-9C585D3A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E802AA-A84A-4AEB-B275-A8D72F89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결과 (2) — 157,118건 데이터 경로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5F67B5-CF40-4AB6-B25C-7B2E4459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프로파일링으로 스키마를 결정하고, 같은 조건에서 세 적재 경로를 비교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8D1E66-686C-4709-BAB2-C04724C5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64F4C1-63A8-423C-B80D-73098176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4778"/>
            <a:ext cx="2331720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BE6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36CE7FE-1373-4C9F-8CFC-D5EB213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841354"/>
            <a:ext cx="22219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① CSV 프로파일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157,118건 × 18컬럼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519F4D9-6459-4843-B26C-D0FDF26F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804778"/>
            <a:ext cx="2331720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AC7F84-5978-4552-A669-D8DCD9C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841354"/>
            <a:ext cx="22219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② 엔티티 결정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가격 BigDecimal · 날짜 LocalDate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1E40591-B4CE-4BF4-B029-1D62A3F5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04778"/>
            <a:ext cx="2331720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D568861-EDE3-4138-A7E8-7FE76B8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41354"/>
            <a:ext cx="22219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③ ISBN 정규화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오류 858건은 null 처리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AB31921-F3F4-44C3-B890-15AD7EE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197970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A106737-C8CC-46F3-9ED3-13C791FC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2197970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A8BE0AC-F64A-4045-AEEC-3E800799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648196"/>
            <a:ext cx="0" cy="4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CF92164-5AE6-4784-985B-894DF357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4082"/>
            <a:ext cx="175564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53B4CED-C53F-4040-83D6-B2A0098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130658"/>
            <a:ext cx="1645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④ 적재 경로 3종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EntityManager · JDBC · COPY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114D08F-B429-45A0-8553-4C1B7A56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36" y="348727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4D921DE-2DD3-4CD6-BC25-3162BF4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3094082"/>
            <a:ext cx="175564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BE6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404C3EB-37CE-41B9-8B81-D4B9B8A5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130658"/>
            <a:ext cx="1645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⑤ CopyManager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1.25~1.50초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C358E6-C72D-46EA-90BD-17D56F83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3477587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B8C2C6D-5C64-4A66-B72D-43CEE0B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094082"/>
            <a:ext cx="175564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A64BB2C-9799-4A02-84B8-B9AD692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3130658"/>
            <a:ext cx="1645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⑥ books 적재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157,118건 완료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2514B2C-F3BD-47B0-B134-1F2A643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8727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D0360F7-67B6-42E8-B011-4333332D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094082"/>
            <a:ext cx="175564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66C3598-85B8-4C69-95D7-6548457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130658"/>
            <a:ext cx="1645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⑦ 임베딩 생성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batch 128 · pgvector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C4EFB32-BF55-4A5B-B37A-CCCCADE4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274C5EA-054C-4A84-A581-D2E67EA3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7669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34BC3C0-289E-4D6E-8CAC-9DAD565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AAC224-2D13-4BE0-820F-0C008646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374F3C5-F6B2-48CD-9AEB-EC8BA56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결과 (3) — 인덱스 선택 근거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D53EF96-9E4F-41BC-84C7-B64D97B7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인덱스 존재보다 PostgreSQL planner가 실제 선택했는지를 판단 기준으로 사용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1F49C7-D116-4391-BD9D-E30EB58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F8D638-A5EC-4A20-90CC-8FC08BE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8448"/>
            <a:ext cx="3931920" cy="1207008"/>
          </a:xfrm>
          <a:prstGeom xmlns:a="http://schemas.openxmlformats.org/drawingml/2006/main" prst="roundRect">
            <a:avLst>
              <a:gd name="adj" fmla="val 5303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2877EF-624D-47BA-B2FA-9DB3A856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08176"/>
            <a:ext cx="3566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KDC prefix 인덱스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content  77.829ms → 1.025ms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count     33.958ms → 0.050ms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varchar_pattern_ops 선택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8F7D887-F2A9-4892-9766-B7B387B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3472"/>
            <a:ext cx="3931920" cy="1207008"/>
          </a:xfrm>
          <a:prstGeom xmlns:a="http://schemas.openxmlformats.org/drawingml/2006/main" prst="roundRect">
            <a:avLst>
              <a:gd name="adj" fmla="val 5303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B02284-FF5F-4930-BC2A-B54CDA4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5661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Description FTS GIN</a:t>
            </a:r>
          </a:p>
          <a:p xmlns:a="http://schemas.openxmlformats.org/drawingml/2006/main">
            <a:pPr>
              <a:lnSpc>
                <a:spcPct val="102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content  977.587ms → 0.269ms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count   1105.755ms → 0.116ms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Bitmap Index Scan 확인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774C00-B0E1-4FA5-A899-28DDBA52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8496"/>
            <a:ext cx="3931920" cy="603504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FE88BB-1818-4243-A844-2A20028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68496"/>
            <a:ext cx="35661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보류 기준   %자바% trigram은 planner가 선택하지 않아 적용 근거가 부족했다</a:t>
            </a:r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eca81da9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40" y="131673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04BF822-5DA5-4613-BA67-FB0A6BE5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261872"/>
            <a:ext cx="37673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ISBN exact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unique btree로 충분 · 중복 인덱스 불필요</a:t>
            </a:r>
          </a:p>
        </p:txBody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eca81da9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40" y="188366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B9D00B87-15B9-45FC-AED2-95F4B137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828800"/>
            <a:ext cx="37673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KDC + keyword</a:t>
            </a:r>
          </a:p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KDC로 79건까지 줄인 뒤 keyword filter</a:t>
            </a:r>
          </a:p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eca81da9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40" y="2450592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4C45CC55-12AB-4FF1-B5AA-6AD94AE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395728"/>
            <a:ext cx="37673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Keyword trigram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content는 PK · count는 Parallel Seq Scan</a:t>
            </a:r>
          </a:p>
        </p:txBody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eca81da94c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40" y="301752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C47FC065-A4CA-46E1-AE43-2AFFFD2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962656"/>
            <a:ext cx="37673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Description FTS</a:t>
            </a:r>
          </a:p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GIN 적용 후 실행 계획과 count 모두 개선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F898B0AD-E59E-4655-846E-73DFAE8D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21024"/>
            <a:ext cx="402336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B2E"/>
          </a:solidFill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34E35D1-F461-4B67-932E-D9C5F07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3694176"/>
            <a:ext cx="37490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spcAft>
                <a:spcPts val="1"/>
              </a:spcAft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CREATE INDEX ... ON books (kdc_code varchar_pattern_ops);</a:t>
            </a:r>
          </a:p>
          <a:p xmlns:a="http://schemas.openxmlformats.org/drawingml/2006/main">
            <a:pPr>
              <a:spcAft>
                <a:spcPts val="1"/>
              </a:spcAft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CREATE INDEX ... USING gin (to_tsvector('korean', coalesce(description,'')));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2AF9BE14-003E-4F90-9EE0-613137B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78D61350-EEF4-4C17-B248-F21365DA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8983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FE2B61-EB57-4695-8FA1-0E6261D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74740D-6CD3-4473-B628-961096F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B78EC3-3385-4161-A0A9-085F834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결과 (4) — Telegram 피드백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CC2AFED-46AF-430D-A332-CB3DB6B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callback 길이 제한은 contextId 저장소로 해소하고, 입력·도서 유효성은 use case에서 검증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D526799-549C-4A59-A4BC-65D9F27C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2E6A526-0B97-433B-BFE3-26E00A7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① 피드백 저장 경로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B5D24C5-0BD2-415B-A0FF-C532B423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7632"/>
            <a:ext cx="3977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BE6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A75FD02-199A-4E30-9476-2CC4680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664208"/>
            <a:ext cx="38679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Telegram 검색 결과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👍 좋아요 · 👎 싫어요 버튼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C76466-5E40-4DEC-B941-D1AB8FB7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2212848"/>
            <a:ext cx="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6699F1D-E128-4FA5-8A33-F1F4E7A7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7168"/>
            <a:ext cx="3977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715838-4550-4577-8E3D-04F10E7B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523744"/>
            <a:ext cx="38679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ContextStore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contextId → userKey·query 복원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546C311-0A10-4B61-807F-27901DCE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3072384"/>
            <a:ext cx="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6F85E61-0007-4470-857C-A43C4739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8416"/>
            <a:ext cx="3977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BE6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14CBAC-18F2-4E82-87B5-2F0E871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364992"/>
            <a:ext cx="3867912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SubmitFeedbackUseCase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도서 검증 → search_feedbacks 저장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562F57B-06C1-4E6D-B500-B9A6A3B0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1376"/>
            <a:ext cx="397764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C9A1DD8-BAD8-4CE8-8F3E-3880838D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51376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컨텍스트 보호</a:t>
            </a:r>
          </a:p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04A44"/>
                </a:solidFill>
                <a:latin typeface="Apple SD Gothic Neo"/>
                <a:ea typeface="Apple SD Gothic Neo"/>
                <a:cs typeface="Apple SD Gothic Neo"/>
              </a:rPr>
              <a:t>10분 보관 · 최대 10,000건 · 만료 시 재검색 안내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0AD9A9F-FA40-4EED-8C96-FE5C86D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977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② 오류·정합성 방어 규칙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553B5F-9425-45CA-8295-14260658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7007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2249E42-4EB2-457E-9E62-81A7FA1C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627632"/>
            <a:ext cx="37581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6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callbackData는 fb:{contextId}:{bookId}:{L|D}로 축약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4FC3A7-FD9A-4A90-AB9A-B10BB247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DC7D94-068A-4B91-84E4-E9CFF2C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084832"/>
            <a:ext cx="37581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6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형식 불일치·숫자 변환 실패는 Optional.empty 처리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52FD448-1050-4833-86E0-E53BD5E5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6151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D3C7F78-4338-4C4C-A618-053040D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542032"/>
            <a:ext cx="37581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6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context 만료 시 저장하지 않고 재검색 메시지 반환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E17B9AB-DF72-445B-A20A-5FACD35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0723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110947B-420F-47BA-9F23-F3B6093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999232"/>
            <a:ext cx="37581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6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bookId 존재 확인 후 SearchFeedback 엔티티 저장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265D0AD-9114-4BFD-BCA3-5469B906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5295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A534DAE-BF08-4FE7-9B58-4FD29BE0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456432"/>
            <a:ext cx="375818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5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저장 시 userPreferenceVectors 캐시를 즉시 제거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9F340B6-C17C-40C9-8DCD-F9712298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968496"/>
            <a:ext cx="39776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B2E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F73A07E-2B01-4392-898B-816707CD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464" y="4059936"/>
            <a:ext cx="370332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spcAft>
                <a:spcPts val="1"/>
              </a:spcAft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callback  fb:{contextId}:{bookId}:{L|D}</a:t>
            </a:r>
          </a:p>
          <a:p xmlns:a="http://schemas.openxmlformats.org/drawingml/2006/main">
            <a:pPr>
              <a:spcAft>
                <a:spcPts val="1"/>
              </a:spcAft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성공  피드백이 저장되었습니다.</a:t>
            </a:r>
          </a:p>
          <a:p xmlns:a="http://schemas.openxmlformats.org/drawingml/2006/main">
            <a:pPr>
              <a:spcAft>
                <a:spcPts val="1"/>
              </a:spcAft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만료  검색 정보가 만료되었습니다.</a:t>
            </a:r>
          </a:p>
          <a:p xmlns:a="http://schemas.openxmlformats.org/drawingml/2006/main">
            <a:pPr>
              <a:spcAft>
                <a:spcPts val="1"/>
              </a:spcAft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오류  피드백 처리 중 오류가 발생했습니다.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16EC1B6-A3A8-4A0F-AA0D-CA511BE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A1BF0C0-8979-4411-B180-85444609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9439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BCBA2C3-570A-4885-91C9-FB95DC47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46AD25-000B-4568-8D4E-3DB3678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756D33-CF0C-45C4-B7EA-971C1C8C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수행 결과 (5) — 개인화 재정렬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8C069-870C-491C-8152-4FC8882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5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▶  검색 적합도를 보존하면서 LIKE·DISLIKE 임베딩을 보정 신호로 사용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5D827C5-8292-48DE-9A8A-49F2F01C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A56108A-BF83-4017-8C0E-7C1A0A8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87452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3DBE6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314850-7CDE-4AB3-B5DF-3F3EBD41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408176"/>
            <a:ext cx="176479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최근 피드백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도서별 최신 1건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65F966-512C-4F74-A3AD-6B51671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371600"/>
            <a:ext cx="187452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7780">
            <a:solidFill>
              <a:srgbClr val="0D9488"/>
            </a:solidFill>
            <a:prstDash val="solid"/>
          </a:ln>
          <a:effectLst xmlns:a="http://schemas.openxmlformats.org/drawingml/2006/main"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BEE140-FDA5-4969-8088-7CD903F1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1408176"/>
            <a:ext cx="176479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선호 벡터 평균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LIKE·DISLIKE 각 20건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7AE5EA-B2E0-4FFD-A7F2-3587783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296" y="1737360"/>
            <a:ext cx="384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53B4425-8A53-4855-A0C4-02A989D5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371600"/>
            <a:ext cx="187452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7B9C9F4-83BC-429B-8DFD-22A44991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371600"/>
            <a:ext cx="1874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개인화 가능?</a:t>
            </a:r>
          </a:p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LIKE 또는 DISLIKE ≥ 3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D2B37BC-80BD-42DF-9C72-310DA3B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173736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695A285-CBE5-4D77-AA28-91DF21C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21408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3BA7165-15AE-4793-B6CD-7146B63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" y="2414016"/>
            <a:ext cx="3977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1C06DB9-7C70-4238-ACDB-E5CAA54E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" y="2414016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45A6281-30AA-4DBF-B5B5-3D50FC66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14016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441E164-8154-41C6-AFBF-1CCADD80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" y="236829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예 (선호 신호 충분)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17354B0-4E4F-49D5-ACFA-BA8AEB68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204" y="236829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 b="1">
                <a:solidFill>
                  <a:srgbClr val="5B6B7F"/>
                </a:solidFill>
                <a:latin typeface="Apple SD Gothic Neo"/>
                <a:ea typeface="Apple SD Gothic Neo"/>
                <a:cs typeface="Apple SD Gothic Neo"/>
              </a:rPr>
              <a:t>아니오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252E2D2-BB79-462A-8245-0984411D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88336"/>
            <a:ext cx="3063240" cy="804672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E3F4F1"/>
          </a:solidFill>
          <a:ln xmlns:a="http://schemas.openxmlformats.org/drawingml/2006/main" w="16510">
            <a:solidFill>
              <a:srgbClr val="0D948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131C9BD-D380-4917-9092-230D4EDC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7432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재정렬  →  후보 임베딩과 코사인 유사도 계산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D29188E-2B54-4A6D-8D0A-BD276AD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676" y="2688336"/>
            <a:ext cx="3584448" cy="804672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0418646-A9F1-4A66-89EA-9C1D2DAC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56" y="2688336"/>
            <a:ext cx="326440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원본 순서  →  개인화 점수 없이 RRF 결과 유지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7BD4280-67CF-4AEB-8C67-899AD38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420624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B2E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69B25AF-0F4F-495A-83C9-338B45D6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22192"/>
            <a:ext cx="393192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marL="0" indent="0">
              <a:lnSpc>
                <a:spcPct val="10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6FBFB6"/>
                </a:solidFill>
                <a:latin typeface="Apple SD Gothic Neo"/>
                <a:ea typeface="Apple SD Gothic Neo"/>
                <a:cs typeface="Apple SD Gothic Neo"/>
              </a:rPr>
              <a:t>finalScore = 0.70 × normalizedRRF</a:t>
            </a:r>
          </a:p>
          <a:p xmlns:a="http://schemas.openxmlformats.org/drawingml/2006/main">
            <a:pPr marL="0" indent="0">
              <a:lnSpc>
                <a:spcPct val="10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2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           + 0.25 × likeSimilarity</a:t>
            </a:r>
          </a:p>
          <a:p xmlns:a="http://schemas.openxmlformats.org/drawingml/2006/main">
            <a:pPr marL="0" indent="0">
              <a:lnSpc>
                <a:spcPct val="100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E6EEF7"/>
                </a:solidFill>
                <a:latin typeface="Apple SD Gothic Neo"/>
                <a:ea typeface="Apple SD Gothic Neo"/>
                <a:cs typeface="Apple SD Gothic Neo"/>
              </a:rPr>
              <a:t>           - 0.05 × dislikeSimilarity</a:t>
            </a:r>
          </a:p>
        </p:txBody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1bb2bcea9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0" y="3767328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09906B9-CCEF-48CE-9968-83DFD90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721608"/>
            <a:ext cx="35844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역할 분리</a:t>
            </a:r>
          </a:p>
          <a:p xmlns:a="http://schemas.openxmlformats.org/drawingml/2006/main">
            <a:pPr marL="0" indent="0"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벡터 연산은 PostgreSQL, 최종 정렬은 Java</a:t>
            </a:r>
          </a:p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1bb2bcea9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0" y="4087368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7117D38E-7D62-4208-8AFB-561E622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041648"/>
            <a:ext cx="35844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캐시 정합성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피드백 저장 시 preference cache evict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1bb2bcea9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6320" y="4407408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B08BB591-1E95-4063-A0B6-F24AF17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361688"/>
            <a:ext cx="35844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0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응답 격리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1F2A37"/>
                </a:solidFill>
                <a:latin typeface="Apple SD Gothic Neo"/>
                <a:ea typeface="Apple SD Gothic Neo"/>
                <a:cs typeface="Apple SD Gothic Neo"/>
              </a:rPr>
              <a:t>userKey가 있으면 semantic response cache 우회</a:t>
            </a:r>
          </a:p>
        </p:txBody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75A34304-7A94-458A-A348-8BCBDE2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8CFE69C0-F1C6-42F8-8150-1DBFA94C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054807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3A515D-20D4-4308-9A9E-0B775BE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304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DA35A7-C85B-4320-9A81-0A2C001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65836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200" b="1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63B573-CC0F-4AB2-B9DF-19FBDF0B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0896"/>
            <a:ext cx="7406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13047"/>
                </a:solidFill>
                <a:latin typeface="Apple SD Gothic Neo"/>
                <a:ea typeface="Apple SD Gothic Neo"/>
                <a:cs typeface="Apple SD Gothic Neo"/>
              </a:rPr>
              <a:t>사후 평가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32AF151-7B2F-4260-B98C-C978341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722376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7AB80A9-59FE-42A5-96FD-745D807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556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1762238-8F78-4DFF-9267-030A5F3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8448"/>
            <a:ext cx="39776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12700">
            <a:solidFill>
              <a:srgbClr val="D3DBE6"/>
            </a:solidFill>
            <a:prstDash val="solid"/>
          </a:ln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0feff320145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146304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DD264F2-0BC9-4BFF-80D0-4272A591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426464"/>
            <a:ext cx="3337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0B7A70"/>
                </a:solidFill>
                <a:latin typeface="Apple SD Gothic Neo"/>
                <a:ea typeface="Apple SD Gothic Neo"/>
                <a:cs typeface="Apple SD Gothic Neo"/>
              </a:rPr>
              <a:t>성과 · 검증된 결과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9CA32A1-F480-4BC3-BAD5-A0B9C64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47088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34개 비병합 커밋으로 데이터 → 검색 → 피드백 → 개인화 경로 연결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COPY 평균 1.36초: JDBC 대비 1.6배, JPA 대비 3.2배 빠름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KDC prefix 77.829→1.025ms, description FTS 977.587→0.269ms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Telegram callback을 검증된 SearchFeedback로 저장하고 오류 응답 분리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피드백 캐시 무효화·개인화 요청 캐시 우회로 사용자별 정합성 유지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B5BBB84-83B0-4A4D-9925-3264F372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98448"/>
            <a:ext cx="39776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BF3E9"/>
          </a:solidFill>
          <a:ln xmlns:a="http://schemas.openxmlformats.org/drawingml/2006/main" w="12700">
            <a:solidFill>
              <a:srgbClr val="EBD9C2"/>
            </a:solidFill>
            <a:prstDash val="solid"/>
          </a:ln>
        </p:spPr>
      </p:sp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2fdb28abf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0328" y="146304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0E4B0E9-0F91-448B-A1A8-4B8DCCC0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1426464"/>
            <a:ext cx="3337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400" b="1">
                <a:solidFill>
                  <a:srgbClr val="B5731F"/>
                </a:solidFill>
                <a:latin typeface="Apple SD Gothic Neo"/>
                <a:ea typeface="Apple SD Gothic Neo"/>
                <a:cs typeface="Apple SD Gothic Neo"/>
              </a:rPr>
              <a:t>한계 · 다음 검증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54617D-A536-4584-BF14-BA2EE1DC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2" y="1847088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단일 로컬 머신 측정이라 warm-up·OS cache 영향이 남음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검색어 ‘자바’·KDC ‘500%’ 고정 실험으로 분포별 재검증 필요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가중치 0.70/0.25/0.05, 최소 3건, 최근 20건은 경험적 상수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개인화 품질을 nDCG·CTR 또는 A/B 테스트로 정량 검증하지 못함</a:t>
            </a:r>
          </a:p>
          <a:p xmlns:a="http://schemas.openxmlformats.org/drawingml/2006/main">
            <a:pPr marL="15" indent="-9">
              <a:spcAft>
                <a:spcPts val="5"/>
              </a:spcAft>
              <a:buChar char="•"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250">
                <a:latin typeface="Apple SD Gothic Neo"/>
                <a:ea typeface="Apple SD Gothic Neo"/>
                <a:cs typeface="Apple SD Gothic Neo"/>
              </a:rPr>
              <a:t>Caffeine context는 인스턴스 로컬이라 확장 시 공유 저장소 필요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D963E14-53E1-4747-AEF7-D0764A6D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0892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0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Spring AI Library  ·  ATGG_03_015 기여 보고서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A99EE39-2AC9-4DA3-9CF4-852CF817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50892"/>
            <a:ext cx="548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850">
                <a:solidFill>
                  <a:srgbClr val="9AA7B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8423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2191EA6-5AA9-4B68-ACFE-A289A67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4BD8C2A-23FE-43CD-892C-CB89303F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1C51B-5693-4684-AAC5-6FB42353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EF5C731-E3FC-4D18-896F-EDB47E4E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4D849C-3031-4A29-B971-FB4DF648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F32006-A74C-47B6-9B1E-3AC9D0DC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AB3650-4E5F-4B0C-9515-7DB08805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0A0E0B-FF56-4B87-A9D0-C1B174F5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418B19-2E20-4CFC-83D9-46484BB0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1605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4A3868-89F9-4E07-BFA2-2FE15616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18F9FE-8FB8-43AF-8070-27A478C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8BA51F1-0FA1-4932-86A9-1722B37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80CF60A-7084-428A-B68C-09CDE698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3A4D88F-2FE3-4C6B-868E-EE5CCF55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44D1804-FAD0-416E-A375-8D582561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03022E5-281B-4943-87EF-F1635710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ADF7A5D-4136-4658-98D5-AA82D10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E6F1BC2-B04D-4730-BB02-B082EF9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398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B9D714F-130A-4CC3-B7D2-A67B29A7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BCE7F08-6D8D-4858-AD13-871F1C38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CB87E8F-883F-4E45-B1F0-6D7CD8DE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A973BF6-3F45-4CBC-9021-2ABAFE62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437BB-B5EF-4F27-B60B-4B17CE1A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F192AC4-6BE3-461D-844C-7C331EA8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21DA6FD-4AB2-4DE4-92D1-CEE5F7D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16DB904-C4CF-44B9-80F8-B70DE8F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CA51774-EC53-4AA5-BEB3-3B8649A3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6360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41D416B-D2C4-41E4-9BE5-FC17EEC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D8707AF-694B-415B-A080-C13D303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12A3218-6BBB-4B9B-AD32-F2FB9C4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9D72D36-A110-4711-ABE2-CA2ABAB7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7301AA0-F267-4730-BB0D-47E1BB2B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C81EFD0-EDE2-4553-95C4-83B6CB5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834E27D-2619-4843-8131-C6A33B2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8DDB517-AEDE-4F4D-924B-C9FCA55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0C03E1A-7DD6-4290-9690-78FFCF4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8737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456B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09247E2-9D85-4EA8-B17A-BE0B520B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5960"/>
            <a:ext cx="9144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4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F0252AF-8F15-4A74-9072-3F738427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46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400">
                <a:solidFill>
                  <a:srgbClr val="2DD4BF"/>
                </a:solidFill>
                <a:latin typeface="Apple SD Gothic Neo"/>
                <a:ea typeface="Apple SD Gothic Neo"/>
                <a:cs typeface="Apple SD Gothic Neo"/>
              </a:rPr>
              <a:t>Spring AI Library  ·  데이터에서 개인화 추천까지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0861DA3-B566-4FE4-9220-2B155C8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4612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Apple SD Gothic Neo"/>
                <a:ea typeface="Apple SD Gothic Neo"/>
                <a:cs typeface="Apple SD Gothic Neo"/>
              </a:defRPr>
            </a:pPr>
            <a:r>
              <a:rPr sz="1100">
                <a:solidFill>
                  <a:srgbClr val="8FA2BA"/>
                </a:solidFill>
                <a:latin typeface="Apple SD Gothic Neo"/>
                <a:ea typeface="Apple SD Gothic Neo"/>
                <a:cs typeface="Apple SD Gothic Neo"/>
              </a:rPr>
              <a:t>박상민 (ATGG_03_015)</a:t>
            </a:r>
          </a:p>
        </p:txBody>
      </p:sp>
    </p:spTree>
    <p:extLst>
      <p:ext uri="{BB962C8B-B14F-4D97-AF65-F5344CB8AC3E}">
        <p14:creationId xmlns:p14="http://schemas.microsoft.com/office/powerpoint/2010/main" val="2104365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2026-08-02T03:24:15.7400000Z</dcterms:created>
  <dcterms:modified xsi:type="dcterms:W3CDTF">2026-08-02T03:24:15.7400000Z</dcterms:modified>
</coreProperties>
</file>